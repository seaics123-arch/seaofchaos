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lack Han Sans" panose="020B0604020202020204" charset="-127"/>
      <p:regular r:id="rId14"/>
    </p:embeddedFont>
    <p:embeddedFont>
      <p:font typeface="Futura Display" panose="020B0604020202020204" charset="0"/>
      <p:regular r:id="rId15"/>
    </p:embeddedFont>
    <p:embeddedFont>
      <p:font typeface="Press Start 2P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-191091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-191091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3621662" y="1741326"/>
            <a:ext cx="5645131" cy="9494869"/>
          </a:xfrm>
          <a:custGeom>
            <a:avLst/>
            <a:gdLst/>
            <a:ahLst/>
            <a:cxnLst/>
            <a:rect l="l" t="t" r="r" b="b"/>
            <a:pathLst>
              <a:path w="5645131" h="9494869">
                <a:moveTo>
                  <a:pt x="0" y="0"/>
                </a:moveTo>
                <a:lnTo>
                  <a:pt x="5645131" y="0"/>
                </a:lnTo>
                <a:lnTo>
                  <a:pt x="5645131" y="9494868"/>
                </a:lnTo>
                <a:lnTo>
                  <a:pt x="0" y="9494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-971789" y="1741326"/>
            <a:ext cx="5645131" cy="9494869"/>
          </a:xfrm>
          <a:custGeom>
            <a:avLst/>
            <a:gdLst/>
            <a:ahLst/>
            <a:cxnLst/>
            <a:rect l="l" t="t" r="r" b="b"/>
            <a:pathLst>
              <a:path w="5645131" h="9494869">
                <a:moveTo>
                  <a:pt x="0" y="0"/>
                </a:moveTo>
                <a:lnTo>
                  <a:pt x="5645131" y="0"/>
                </a:lnTo>
                <a:lnTo>
                  <a:pt x="5645131" y="9494868"/>
                </a:lnTo>
                <a:lnTo>
                  <a:pt x="0" y="9494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370554" y="504432"/>
            <a:ext cx="17519063" cy="771918"/>
            <a:chOff x="0" y="0"/>
            <a:chExt cx="4614074" cy="2033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14074" cy="203303"/>
            </a:xfrm>
            <a:custGeom>
              <a:avLst/>
              <a:gdLst/>
              <a:ahLst/>
              <a:cxnLst/>
              <a:rect l="l" t="t" r="r" b="b"/>
              <a:pathLst>
                <a:path w="4614074" h="203303">
                  <a:moveTo>
                    <a:pt x="10164" y="0"/>
                  </a:moveTo>
                  <a:lnTo>
                    <a:pt x="4603910" y="0"/>
                  </a:lnTo>
                  <a:cubicBezTo>
                    <a:pt x="4606606" y="0"/>
                    <a:pt x="4609191" y="1071"/>
                    <a:pt x="4611097" y="2977"/>
                  </a:cubicBezTo>
                  <a:cubicBezTo>
                    <a:pt x="4613003" y="4883"/>
                    <a:pt x="4614074" y="7468"/>
                    <a:pt x="4614074" y="10164"/>
                  </a:cubicBezTo>
                  <a:lnTo>
                    <a:pt x="4614074" y="193139"/>
                  </a:lnTo>
                  <a:cubicBezTo>
                    <a:pt x="4614074" y="195835"/>
                    <a:pt x="4613003" y="198420"/>
                    <a:pt x="4611097" y="200326"/>
                  </a:cubicBezTo>
                  <a:cubicBezTo>
                    <a:pt x="4609191" y="202233"/>
                    <a:pt x="4606606" y="203303"/>
                    <a:pt x="4603910" y="203303"/>
                  </a:cubicBezTo>
                  <a:lnTo>
                    <a:pt x="10164" y="203303"/>
                  </a:lnTo>
                  <a:cubicBezTo>
                    <a:pt x="7468" y="203303"/>
                    <a:pt x="4883" y="202233"/>
                    <a:pt x="2977" y="200326"/>
                  </a:cubicBezTo>
                  <a:cubicBezTo>
                    <a:pt x="1071" y="198420"/>
                    <a:pt x="0" y="195835"/>
                    <a:pt x="0" y="193139"/>
                  </a:cubicBezTo>
                  <a:lnTo>
                    <a:pt x="0" y="10164"/>
                  </a:lnTo>
                  <a:cubicBezTo>
                    <a:pt x="0" y="7468"/>
                    <a:pt x="1071" y="4883"/>
                    <a:pt x="2977" y="2977"/>
                  </a:cubicBezTo>
                  <a:cubicBezTo>
                    <a:pt x="4883" y="1071"/>
                    <a:pt x="7468" y="0"/>
                    <a:pt x="10164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14074" cy="241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-633336" y="2887894"/>
            <a:ext cx="19936645" cy="3037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6"/>
              </a:lnSpc>
            </a:pPr>
            <a:r>
              <a:rPr lang="en-US" sz="26907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SEA OF CHAOS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80809" y="5662296"/>
            <a:ext cx="10308354" cy="79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29"/>
              </a:lnSpc>
              <a:spcBef>
                <a:spcPct val="0"/>
              </a:spcBef>
            </a:pPr>
            <a:r>
              <a:rPr lang="en-US" sz="6999" u="none" strike="noStrike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AN UNDERWATER ARCADE GAME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3915" y="2789076"/>
            <a:ext cx="18288000" cy="282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6"/>
              </a:lnSpc>
            </a:pPr>
            <a:r>
              <a:rPr lang="en-US" sz="26907" dirty="0">
                <a:ln>
                  <a:solidFill>
                    <a:sysClr val="windowText" lastClr="000000"/>
                  </a:solidFill>
                </a:ln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SEA OF CHAOS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1422" y="578130"/>
            <a:ext cx="2386578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LET’S PLAY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10787" y="578130"/>
            <a:ext cx="1666427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GAME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95042" y="578130"/>
            <a:ext cx="2493267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TOGETHER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24854" y="7117672"/>
            <a:ext cx="11793616" cy="279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4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GROUP MEMBERS</a:t>
            </a:r>
          </a:p>
          <a:p>
            <a:pPr marL="0" lvl="0" indent="0" algn="ctr">
              <a:lnSpc>
                <a:spcPts val="7899"/>
              </a:lnSpc>
              <a:spcBef>
                <a:spcPct val="0"/>
              </a:spcBef>
            </a:pPr>
            <a:r>
              <a:rPr lang="en-US" sz="9999" u="none" strike="noStrike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ANIS AHMAD</a:t>
            </a:r>
          </a:p>
          <a:p>
            <a:pPr marL="0" lvl="0" indent="0" algn="ctr">
              <a:lnSpc>
                <a:spcPts val="7899"/>
              </a:lnSpc>
              <a:spcBef>
                <a:spcPct val="0"/>
              </a:spcBef>
            </a:pPr>
            <a:r>
              <a:rPr lang="en-US" sz="9999" u="none" strike="noStrike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ALESHA SHAHID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3749" y="7117672"/>
            <a:ext cx="11793616" cy="266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0"/>
              </a:lnSpc>
            </a:pPr>
            <a:r>
              <a:rPr lang="en-US" sz="6000" dirty="0">
                <a:ln>
                  <a:solidFill>
                    <a:sysClr val="windowText" lastClr="000000"/>
                  </a:solidFill>
                </a:ln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GROUP MEMBERS</a:t>
            </a:r>
          </a:p>
          <a:p>
            <a:pPr algn="ctr">
              <a:lnSpc>
                <a:spcPts val="7899"/>
              </a:lnSpc>
            </a:pPr>
            <a:r>
              <a:rPr lang="en-US" sz="9999" dirty="0">
                <a:ln>
                  <a:solidFill>
                    <a:sysClr val="windowText" lastClr="000000"/>
                  </a:solidFill>
                </a:ln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ANIS AHMAD</a:t>
            </a:r>
          </a:p>
          <a:p>
            <a:pPr algn="ctr">
              <a:lnSpc>
                <a:spcPts val="7899"/>
              </a:lnSpc>
            </a:pPr>
            <a:r>
              <a:rPr lang="en-US" sz="9999" dirty="0">
                <a:ln>
                  <a:solidFill>
                    <a:sysClr val="windowText" lastClr="000000"/>
                  </a:solidFill>
                </a:ln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ALESHA SHAHID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32317" y="5662296"/>
            <a:ext cx="10308354" cy="79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9"/>
              </a:lnSpc>
            </a:pPr>
            <a:r>
              <a:rPr lang="en-US" sz="6999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AN UNDERWATER ARCADE GAME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386519" y="1473043"/>
            <a:ext cx="15514962" cy="6041961"/>
            <a:chOff x="0" y="0"/>
            <a:chExt cx="4086245" cy="1591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86245" cy="1591298"/>
            </a:xfrm>
            <a:custGeom>
              <a:avLst/>
              <a:gdLst/>
              <a:ahLst/>
              <a:cxnLst/>
              <a:rect l="l" t="t" r="r" b="b"/>
              <a:pathLst>
                <a:path w="4086245" h="1591298">
                  <a:moveTo>
                    <a:pt x="11477" y="0"/>
                  </a:moveTo>
                  <a:lnTo>
                    <a:pt x="4074768" y="0"/>
                  </a:lnTo>
                  <a:cubicBezTo>
                    <a:pt x="4081107" y="0"/>
                    <a:pt x="4086245" y="5138"/>
                    <a:pt x="4086245" y="11477"/>
                  </a:cubicBezTo>
                  <a:lnTo>
                    <a:pt x="4086245" y="1579821"/>
                  </a:lnTo>
                  <a:cubicBezTo>
                    <a:pt x="4086245" y="1586160"/>
                    <a:pt x="4081107" y="1591298"/>
                    <a:pt x="4074768" y="1591298"/>
                  </a:cubicBezTo>
                  <a:lnTo>
                    <a:pt x="11477" y="1591298"/>
                  </a:lnTo>
                  <a:cubicBezTo>
                    <a:pt x="5138" y="1591298"/>
                    <a:pt x="0" y="1586160"/>
                    <a:pt x="0" y="1579821"/>
                  </a:cubicBezTo>
                  <a:lnTo>
                    <a:pt x="0" y="11477"/>
                  </a:lnTo>
                  <a:cubicBezTo>
                    <a:pt x="0" y="5138"/>
                    <a:pt x="5138" y="0"/>
                    <a:pt x="11477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86245" cy="1629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57947" y="2853358"/>
            <a:ext cx="12172107" cy="413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18"/>
              </a:lnSpc>
            </a:pPr>
            <a:r>
              <a:rPr lang="en-US" sz="19390">
                <a:solidFill>
                  <a:srgbClr val="FFFFCA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WHAT IS SEA OF CHAOS?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86519" y="8008875"/>
            <a:ext cx="15514962" cy="957482"/>
            <a:chOff x="0" y="0"/>
            <a:chExt cx="4086245" cy="2521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86245" cy="252176"/>
            </a:xfrm>
            <a:custGeom>
              <a:avLst/>
              <a:gdLst/>
              <a:ahLst/>
              <a:cxnLst/>
              <a:rect l="l" t="t" r="r" b="b"/>
              <a:pathLst>
                <a:path w="4086245" h="252176">
                  <a:moveTo>
                    <a:pt x="11477" y="0"/>
                  </a:moveTo>
                  <a:lnTo>
                    <a:pt x="4074768" y="0"/>
                  </a:lnTo>
                  <a:cubicBezTo>
                    <a:pt x="4081107" y="0"/>
                    <a:pt x="4086245" y="5138"/>
                    <a:pt x="4086245" y="11477"/>
                  </a:cubicBezTo>
                  <a:lnTo>
                    <a:pt x="4086245" y="240700"/>
                  </a:lnTo>
                  <a:cubicBezTo>
                    <a:pt x="4086245" y="247038"/>
                    <a:pt x="4081107" y="252176"/>
                    <a:pt x="4074768" y="252176"/>
                  </a:cubicBezTo>
                  <a:lnTo>
                    <a:pt x="11477" y="252176"/>
                  </a:lnTo>
                  <a:cubicBezTo>
                    <a:pt x="5138" y="252176"/>
                    <a:pt x="0" y="247038"/>
                    <a:pt x="0" y="240700"/>
                  </a:cubicBezTo>
                  <a:lnTo>
                    <a:pt x="0" y="11477"/>
                  </a:lnTo>
                  <a:cubicBezTo>
                    <a:pt x="0" y="5138"/>
                    <a:pt x="5138" y="0"/>
                    <a:pt x="11477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86245" cy="290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484256" y="2525526"/>
            <a:ext cx="494295" cy="620691"/>
          </a:xfrm>
          <a:custGeom>
            <a:avLst/>
            <a:gdLst/>
            <a:ahLst/>
            <a:cxnLst/>
            <a:rect l="l" t="t" r="r" b="b"/>
            <a:pathLst>
              <a:path w="494295" h="620691">
                <a:moveTo>
                  <a:pt x="0" y="0"/>
                </a:moveTo>
                <a:lnTo>
                  <a:pt x="494295" y="0"/>
                </a:lnTo>
                <a:lnTo>
                  <a:pt x="494295" y="620691"/>
                </a:lnTo>
                <a:lnTo>
                  <a:pt x="0" y="6206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680557" y="472282"/>
            <a:ext cx="2386578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LET’S PLAY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29921" y="472282"/>
            <a:ext cx="1666427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GAME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114177" y="472282"/>
            <a:ext cx="2493267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TOGETHER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56597" y="8169798"/>
            <a:ext cx="15174807" cy="59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FFB3E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GAME - SEA OF CHAOS - FINAL PROJECT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901481" y="2281782"/>
            <a:ext cx="357819" cy="449316"/>
          </a:xfrm>
          <a:custGeom>
            <a:avLst/>
            <a:gdLst/>
            <a:ahLst/>
            <a:cxnLst/>
            <a:rect l="l" t="t" r="r" b="b"/>
            <a:pathLst>
              <a:path w="357819" h="449316">
                <a:moveTo>
                  <a:pt x="0" y="0"/>
                </a:moveTo>
                <a:lnTo>
                  <a:pt x="357819" y="0"/>
                </a:lnTo>
                <a:lnTo>
                  <a:pt x="357819" y="449317"/>
                </a:lnTo>
                <a:lnTo>
                  <a:pt x="0" y="449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1139371" y="6046891"/>
            <a:ext cx="494295" cy="620691"/>
          </a:xfrm>
          <a:custGeom>
            <a:avLst/>
            <a:gdLst/>
            <a:ahLst/>
            <a:cxnLst/>
            <a:rect l="l" t="t" r="r" b="b"/>
            <a:pathLst>
              <a:path w="494295" h="620691">
                <a:moveTo>
                  <a:pt x="0" y="0"/>
                </a:moveTo>
                <a:lnTo>
                  <a:pt x="494296" y="0"/>
                </a:lnTo>
                <a:lnTo>
                  <a:pt x="494296" y="620691"/>
                </a:lnTo>
                <a:lnTo>
                  <a:pt x="0" y="6206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960462" y="5707933"/>
            <a:ext cx="357819" cy="449316"/>
          </a:xfrm>
          <a:custGeom>
            <a:avLst/>
            <a:gdLst/>
            <a:ahLst/>
            <a:cxnLst/>
            <a:rect l="l" t="t" r="r" b="b"/>
            <a:pathLst>
              <a:path w="357819" h="449316">
                <a:moveTo>
                  <a:pt x="0" y="0"/>
                </a:moveTo>
                <a:lnTo>
                  <a:pt x="357819" y="0"/>
                </a:lnTo>
                <a:lnTo>
                  <a:pt x="357819" y="449316"/>
                </a:lnTo>
                <a:lnTo>
                  <a:pt x="0" y="449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160017" y="1028700"/>
            <a:ext cx="15967966" cy="7365941"/>
            <a:chOff x="0" y="0"/>
            <a:chExt cx="4205555" cy="19400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05555" cy="1940001"/>
            </a:xfrm>
            <a:custGeom>
              <a:avLst/>
              <a:gdLst/>
              <a:ahLst/>
              <a:cxnLst/>
              <a:rect l="l" t="t" r="r" b="b"/>
              <a:pathLst>
                <a:path w="4205555" h="1940001">
                  <a:moveTo>
                    <a:pt x="11151" y="0"/>
                  </a:moveTo>
                  <a:lnTo>
                    <a:pt x="4194404" y="0"/>
                  </a:lnTo>
                  <a:cubicBezTo>
                    <a:pt x="4197361" y="0"/>
                    <a:pt x="4200198" y="1175"/>
                    <a:pt x="4202289" y="3266"/>
                  </a:cubicBezTo>
                  <a:cubicBezTo>
                    <a:pt x="4204380" y="5357"/>
                    <a:pt x="4205555" y="8194"/>
                    <a:pt x="4205555" y="11151"/>
                  </a:cubicBezTo>
                  <a:lnTo>
                    <a:pt x="4205555" y="1928850"/>
                  </a:lnTo>
                  <a:cubicBezTo>
                    <a:pt x="4205555" y="1931807"/>
                    <a:pt x="4204380" y="1934643"/>
                    <a:pt x="4202289" y="1936735"/>
                  </a:cubicBezTo>
                  <a:cubicBezTo>
                    <a:pt x="4200198" y="1938826"/>
                    <a:pt x="4197361" y="1940001"/>
                    <a:pt x="4194404" y="1940001"/>
                  </a:cubicBezTo>
                  <a:lnTo>
                    <a:pt x="11151" y="1940001"/>
                  </a:lnTo>
                  <a:cubicBezTo>
                    <a:pt x="8194" y="1940001"/>
                    <a:pt x="5357" y="1938826"/>
                    <a:pt x="3266" y="1936735"/>
                  </a:cubicBezTo>
                  <a:cubicBezTo>
                    <a:pt x="1175" y="1934643"/>
                    <a:pt x="0" y="1931807"/>
                    <a:pt x="0" y="1928850"/>
                  </a:cubicBezTo>
                  <a:lnTo>
                    <a:pt x="0" y="11151"/>
                  </a:lnTo>
                  <a:cubicBezTo>
                    <a:pt x="0" y="8194"/>
                    <a:pt x="1175" y="5357"/>
                    <a:pt x="3266" y="3266"/>
                  </a:cubicBezTo>
                  <a:cubicBezTo>
                    <a:pt x="5357" y="1175"/>
                    <a:pt x="8194" y="0"/>
                    <a:pt x="11151" y="0"/>
                  </a:cubicBezTo>
                  <a:close/>
                </a:path>
              </a:pathLst>
            </a:custGeom>
            <a:solidFill>
              <a:srgbClr val="FFFFC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4205555" cy="1920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38938" y="1857164"/>
            <a:ext cx="15048393" cy="5709013"/>
            <a:chOff x="0" y="0"/>
            <a:chExt cx="3963363" cy="15036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63363" cy="1503609"/>
            </a:xfrm>
            <a:custGeom>
              <a:avLst/>
              <a:gdLst/>
              <a:ahLst/>
              <a:cxnLst/>
              <a:rect l="l" t="t" r="r" b="b"/>
              <a:pathLst>
                <a:path w="3963363" h="1503609">
                  <a:moveTo>
                    <a:pt x="11833" y="0"/>
                  </a:moveTo>
                  <a:lnTo>
                    <a:pt x="3951530" y="0"/>
                  </a:lnTo>
                  <a:cubicBezTo>
                    <a:pt x="3958065" y="0"/>
                    <a:pt x="3963363" y="5298"/>
                    <a:pt x="3963363" y="11833"/>
                  </a:cubicBezTo>
                  <a:lnTo>
                    <a:pt x="3963363" y="1491776"/>
                  </a:lnTo>
                  <a:cubicBezTo>
                    <a:pt x="3963363" y="1498311"/>
                    <a:pt x="3958065" y="1503609"/>
                    <a:pt x="3951530" y="1503609"/>
                  </a:cubicBezTo>
                  <a:lnTo>
                    <a:pt x="11833" y="1503609"/>
                  </a:lnTo>
                  <a:cubicBezTo>
                    <a:pt x="8695" y="1503609"/>
                    <a:pt x="5685" y="1502362"/>
                    <a:pt x="3466" y="1500143"/>
                  </a:cubicBezTo>
                  <a:cubicBezTo>
                    <a:pt x="1247" y="1497924"/>
                    <a:pt x="0" y="1494914"/>
                    <a:pt x="0" y="1491776"/>
                  </a:cubicBezTo>
                  <a:lnTo>
                    <a:pt x="0" y="11833"/>
                  </a:lnTo>
                  <a:cubicBezTo>
                    <a:pt x="0" y="5298"/>
                    <a:pt x="5298" y="0"/>
                    <a:pt x="11833" y="0"/>
                  </a:cubicBezTo>
                  <a:close/>
                </a:path>
              </a:pathLst>
            </a:custGeom>
            <a:solidFill>
              <a:srgbClr val="FF5DA6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963363" cy="15417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48000" y="1960850"/>
            <a:ext cx="11898643" cy="604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59"/>
              </a:lnSpc>
            </a:pPr>
            <a:r>
              <a:rPr lang="en-US" sz="3700" u="none" strike="noStrike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A FULLY PLAYABLE 2D ARCADE GAME INSPIRED BY THE CLASSIC SPACE INVADERS, REIMAGINED IN AN UNDERWATER WORLD.</a:t>
            </a:r>
          </a:p>
          <a:p>
            <a:pPr marL="0" lvl="0" indent="0" algn="ctr">
              <a:lnSpc>
                <a:spcPts val="3959"/>
              </a:lnSpc>
            </a:pPr>
            <a:endParaRPr lang="en-US" sz="3700" u="none" strike="noStrike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  <a:p>
            <a:pPr marL="798831" lvl="1" indent="-399416" algn="l">
              <a:lnSpc>
                <a:spcPts val="3959"/>
              </a:lnSpc>
              <a:buFont typeface="Arial"/>
              <a:buChar char="•"/>
            </a:pPr>
            <a:r>
              <a:rPr lang="en-US" sz="3700" u="none" strike="noStrike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PLAYER CONTROLS A SUBMARINE</a:t>
            </a:r>
          </a:p>
          <a:p>
            <a:pPr marL="798831" lvl="1" indent="-399416" algn="l">
              <a:lnSpc>
                <a:spcPts val="3959"/>
              </a:lnSpc>
              <a:buFont typeface="Arial"/>
              <a:buChar char="•"/>
            </a:pPr>
            <a:r>
              <a:rPr lang="en-US" sz="3700" u="none" strike="noStrike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FIGHT WAVES OF SEA CREATURES</a:t>
            </a:r>
          </a:p>
          <a:p>
            <a:pPr marL="798831" lvl="1" indent="-399416" algn="l">
              <a:lnSpc>
                <a:spcPts val="3959"/>
              </a:lnSpc>
              <a:buFont typeface="Arial"/>
              <a:buChar char="•"/>
            </a:pPr>
            <a:r>
              <a:rPr lang="en-US" sz="3700" u="none" strike="noStrike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DESTRUCTIBLE CORAL BUNKERS</a:t>
            </a:r>
          </a:p>
          <a:p>
            <a:pPr marL="798831" lvl="1" indent="-399416" algn="l">
              <a:lnSpc>
                <a:spcPts val="3959"/>
              </a:lnSpc>
              <a:buFont typeface="Arial"/>
              <a:buChar char="•"/>
            </a:pPr>
            <a:r>
              <a:rPr lang="en-US" sz="3700" u="none" strike="noStrike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BONUS BLUE WHALE ENEMY</a:t>
            </a:r>
          </a:p>
          <a:p>
            <a:pPr marL="798831" lvl="1" indent="-399416" algn="l">
              <a:lnSpc>
                <a:spcPts val="3959"/>
              </a:lnSpc>
              <a:buFont typeface="Arial"/>
              <a:buChar char="•"/>
            </a:pPr>
            <a:r>
              <a:rPr lang="en-US" sz="3700" u="none" strike="noStrike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3 POWER-UPS: SHIELD, DOUBLE TORPEDO, EXTRA LIFE</a:t>
            </a:r>
          </a:p>
          <a:p>
            <a:pPr marL="798831" lvl="1" indent="-399416" algn="l">
              <a:lnSpc>
                <a:spcPts val="3959"/>
              </a:lnSpc>
              <a:buFont typeface="Arial"/>
              <a:buChar char="•"/>
            </a:pPr>
            <a:r>
              <a:rPr lang="en-US" sz="3700" u="none" strike="noStrike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PERSISTENT LEADERBOARD VIA SQLITE3</a:t>
            </a:r>
          </a:p>
          <a:p>
            <a:pPr marL="0" lvl="0" indent="0" algn="ctr">
              <a:lnSpc>
                <a:spcPts val="3959"/>
              </a:lnSpc>
            </a:pPr>
            <a:endParaRPr lang="en-US" sz="3700" u="none" strike="noStrike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0474" y="1244952"/>
            <a:ext cx="7720329" cy="61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10"/>
              </a:lnSpc>
              <a:spcBef>
                <a:spcPct val="0"/>
              </a:spcBef>
            </a:pPr>
            <a:r>
              <a:rPr lang="en-US" sz="4149" u="none" strike="noStrike">
                <a:solidFill>
                  <a:srgbClr val="FF83BB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ABOUT THE GAME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15912" y="7820223"/>
            <a:ext cx="3470419" cy="1058593"/>
            <a:chOff x="0" y="0"/>
            <a:chExt cx="2008307" cy="612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08306" cy="612600"/>
            </a:xfrm>
            <a:custGeom>
              <a:avLst/>
              <a:gdLst/>
              <a:ahLst/>
              <a:cxnLst/>
              <a:rect l="l" t="t" r="r" b="b"/>
              <a:pathLst>
                <a:path w="2008306" h="612600">
                  <a:moveTo>
                    <a:pt x="51309" y="0"/>
                  </a:moveTo>
                  <a:lnTo>
                    <a:pt x="1956997" y="0"/>
                  </a:lnTo>
                  <a:cubicBezTo>
                    <a:pt x="1970605" y="0"/>
                    <a:pt x="1983656" y="5406"/>
                    <a:pt x="1993278" y="15028"/>
                  </a:cubicBezTo>
                  <a:cubicBezTo>
                    <a:pt x="2002901" y="24650"/>
                    <a:pt x="2008306" y="37701"/>
                    <a:pt x="2008306" y="51309"/>
                  </a:cubicBezTo>
                  <a:lnTo>
                    <a:pt x="2008306" y="561291"/>
                  </a:lnTo>
                  <a:cubicBezTo>
                    <a:pt x="2008306" y="589628"/>
                    <a:pt x="1985335" y="612600"/>
                    <a:pt x="1956997" y="612600"/>
                  </a:cubicBezTo>
                  <a:lnTo>
                    <a:pt x="51309" y="612600"/>
                  </a:lnTo>
                  <a:cubicBezTo>
                    <a:pt x="22972" y="612600"/>
                    <a:pt x="0" y="589628"/>
                    <a:pt x="0" y="561291"/>
                  </a:cubicBezTo>
                  <a:lnTo>
                    <a:pt x="0" y="51309"/>
                  </a:lnTo>
                  <a:cubicBezTo>
                    <a:pt x="0" y="22972"/>
                    <a:pt x="22972" y="0"/>
                    <a:pt x="5130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08307" cy="65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29193" y="7900140"/>
            <a:ext cx="3470419" cy="968563"/>
            <a:chOff x="0" y="0"/>
            <a:chExt cx="2008307" cy="5605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08306" cy="560501"/>
            </a:xfrm>
            <a:custGeom>
              <a:avLst/>
              <a:gdLst/>
              <a:ahLst/>
              <a:cxnLst/>
              <a:rect l="l" t="t" r="r" b="b"/>
              <a:pathLst>
                <a:path w="2008306" h="560501">
                  <a:moveTo>
                    <a:pt x="51309" y="0"/>
                  </a:moveTo>
                  <a:lnTo>
                    <a:pt x="1956997" y="0"/>
                  </a:lnTo>
                  <a:cubicBezTo>
                    <a:pt x="1970605" y="0"/>
                    <a:pt x="1983656" y="5406"/>
                    <a:pt x="1993278" y="15028"/>
                  </a:cubicBezTo>
                  <a:cubicBezTo>
                    <a:pt x="2002901" y="24650"/>
                    <a:pt x="2008306" y="37701"/>
                    <a:pt x="2008306" y="51309"/>
                  </a:cubicBezTo>
                  <a:lnTo>
                    <a:pt x="2008306" y="509191"/>
                  </a:lnTo>
                  <a:cubicBezTo>
                    <a:pt x="2008306" y="537529"/>
                    <a:pt x="1985335" y="560501"/>
                    <a:pt x="1956997" y="560501"/>
                  </a:cubicBezTo>
                  <a:lnTo>
                    <a:pt x="51309" y="560501"/>
                  </a:lnTo>
                  <a:cubicBezTo>
                    <a:pt x="22972" y="560501"/>
                    <a:pt x="0" y="537529"/>
                    <a:pt x="0" y="509191"/>
                  </a:cubicBezTo>
                  <a:lnTo>
                    <a:pt x="0" y="51309"/>
                  </a:lnTo>
                  <a:cubicBezTo>
                    <a:pt x="0" y="22972"/>
                    <a:pt x="22972" y="0"/>
                    <a:pt x="51309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08307" cy="598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5188" y="8041732"/>
            <a:ext cx="3631142" cy="6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LANGUAGE</a:t>
            </a:r>
          </a:p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C++17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12725" y="8076931"/>
            <a:ext cx="3303356" cy="6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GRAPHICS/AUDIO</a:t>
            </a:r>
          </a:p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RAYLIB 5.0</a:t>
            </a:r>
          </a:p>
        </p:txBody>
      </p:sp>
      <p:sp>
        <p:nvSpPr>
          <p:cNvPr id="23" name="Freeform 23"/>
          <p:cNvSpPr/>
          <p:nvPr/>
        </p:nvSpPr>
        <p:spPr>
          <a:xfrm>
            <a:off x="16484256" y="2525526"/>
            <a:ext cx="494295" cy="620691"/>
          </a:xfrm>
          <a:custGeom>
            <a:avLst/>
            <a:gdLst/>
            <a:ahLst/>
            <a:cxnLst/>
            <a:rect l="l" t="t" r="r" b="b"/>
            <a:pathLst>
              <a:path w="494295" h="620691">
                <a:moveTo>
                  <a:pt x="0" y="0"/>
                </a:moveTo>
                <a:lnTo>
                  <a:pt x="494295" y="0"/>
                </a:lnTo>
                <a:lnTo>
                  <a:pt x="494295" y="620691"/>
                </a:lnTo>
                <a:lnTo>
                  <a:pt x="0" y="6206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4" name="Freeform 24"/>
          <p:cNvSpPr/>
          <p:nvPr/>
        </p:nvSpPr>
        <p:spPr>
          <a:xfrm>
            <a:off x="16901481" y="2281782"/>
            <a:ext cx="357819" cy="449316"/>
          </a:xfrm>
          <a:custGeom>
            <a:avLst/>
            <a:gdLst/>
            <a:ahLst/>
            <a:cxnLst/>
            <a:rect l="l" t="t" r="r" b="b"/>
            <a:pathLst>
              <a:path w="357819" h="449316">
                <a:moveTo>
                  <a:pt x="0" y="0"/>
                </a:moveTo>
                <a:lnTo>
                  <a:pt x="357819" y="0"/>
                </a:lnTo>
                <a:lnTo>
                  <a:pt x="357819" y="449317"/>
                </a:lnTo>
                <a:lnTo>
                  <a:pt x="0" y="449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5" name="Freeform 25"/>
          <p:cNvSpPr/>
          <p:nvPr/>
        </p:nvSpPr>
        <p:spPr>
          <a:xfrm>
            <a:off x="1144642" y="6687840"/>
            <a:ext cx="494295" cy="620691"/>
          </a:xfrm>
          <a:custGeom>
            <a:avLst/>
            <a:gdLst/>
            <a:ahLst/>
            <a:cxnLst/>
            <a:rect l="l" t="t" r="r" b="b"/>
            <a:pathLst>
              <a:path w="494295" h="620691">
                <a:moveTo>
                  <a:pt x="0" y="0"/>
                </a:moveTo>
                <a:lnTo>
                  <a:pt x="494296" y="0"/>
                </a:lnTo>
                <a:lnTo>
                  <a:pt x="494296" y="620691"/>
                </a:lnTo>
                <a:lnTo>
                  <a:pt x="0" y="6206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6" name="Freeform 26"/>
          <p:cNvSpPr/>
          <p:nvPr/>
        </p:nvSpPr>
        <p:spPr>
          <a:xfrm>
            <a:off x="965733" y="6348882"/>
            <a:ext cx="357819" cy="449316"/>
          </a:xfrm>
          <a:custGeom>
            <a:avLst/>
            <a:gdLst/>
            <a:ahLst/>
            <a:cxnLst/>
            <a:rect l="l" t="t" r="r" b="b"/>
            <a:pathLst>
              <a:path w="357819" h="449316">
                <a:moveTo>
                  <a:pt x="0" y="0"/>
                </a:moveTo>
                <a:lnTo>
                  <a:pt x="357819" y="0"/>
                </a:lnTo>
                <a:lnTo>
                  <a:pt x="357819" y="449316"/>
                </a:lnTo>
                <a:lnTo>
                  <a:pt x="0" y="449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7" name="Group 27"/>
          <p:cNvGrpSpPr/>
          <p:nvPr/>
        </p:nvGrpSpPr>
        <p:grpSpPr>
          <a:xfrm>
            <a:off x="7342474" y="7855125"/>
            <a:ext cx="3470419" cy="1058593"/>
            <a:chOff x="0" y="0"/>
            <a:chExt cx="2008307" cy="612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08306" cy="612600"/>
            </a:xfrm>
            <a:custGeom>
              <a:avLst/>
              <a:gdLst/>
              <a:ahLst/>
              <a:cxnLst/>
              <a:rect l="l" t="t" r="r" b="b"/>
              <a:pathLst>
                <a:path w="2008306" h="612600">
                  <a:moveTo>
                    <a:pt x="51309" y="0"/>
                  </a:moveTo>
                  <a:lnTo>
                    <a:pt x="1956997" y="0"/>
                  </a:lnTo>
                  <a:cubicBezTo>
                    <a:pt x="1970605" y="0"/>
                    <a:pt x="1983656" y="5406"/>
                    <a:pt x="1993278" y="15028"/>
                  </a:cubicBezTo>
                  <a:cubicBezTo>
                    <a:pt x="2002901" y="24650"/>
                    <a:pt x="2008306" y="37701"/>
                    <a:pt x="2008306" y="51309"/>
                  </a:cubicBezTo>
                  <a:lnTo>
                    <a:pt x="2008306" y="561291"/>
                  </a:lnTo>
                  <a:cubicBezTo>
                    <a:pt x="2008306" y="589628"/>
                    <a:pt x="1985335" y="612600"/>
                    <a:pt x="1956997" y="612600"/>
                  </a:cubicBezTo>
                  <a:lnTo>
                    <a:pt x="51309" y="612600"/>
                  </a:lnTo>
                  <a:cubicBezTo>
                    <a:pt x="22972" y="612600"/>
                    <a:pt x="0" y="589628"/>
                    <a:pt x="0" y="561291"/>
                  </a:cubicBezTo>
                  <a:lnTo>
                    <a:pt x="0" y="51309"/>
                  </a:lnTo>
                  <a:cubicBezTo>
                    <a:pt x="0" y="22972"/>
                    <a:pt x="22972" y="0"/>
                    <a:pt x="5130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08307" cy="65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181750" y="8076634"/>
            <a:ext cx="3631142" cy="6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DATABASE</a:t>
            </a:r>
          </a:p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Sqlite3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860518" y="7865238"/>
            <a:ext cx="3470419" cy="968563"/>
            <a:chOff x="0" y="0"/>
            <a:chExt cx="2008307" cy="56050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08306" cy="560501"/>
            </a:xfrm>
            <a:custGeom>
              <a:avLst/>
              <a:gdLst/>
              <a:ahLst/>
              <a:cxnLst/>
              <a:rect l="l" t="t" r="r" b="b"/>
              <a:pathLst>
                <a:path w="2008306" h="560501">
                  <a:moveTo>
                    <a:pt x="51309" y="0"/>
                  </a:moveTo>
                  <a:lnTo>
                    <a:pt x="1956997" y="0"/>
                  </a:lnTo>
                  <a:cubicBezTo>
                    <a:pt x="1970605" y="0"/>
                    <a:pt x="1983656" y="5406"/>
                    <a:pt x="1993278" y="15028"/>
                  </a:cubicBezTo>
                  <a:cubicBezTo>
                    <a:pt x="2002901" y="24650"/>
                    <a:pt x="2008306" y="37701"/>
                    <a:pt x="2008306" y="51309"/>
                  </a:cubicBezTo>
                  <a:lnTo>
                    <a:pt x="2008306" y="509191"/>
                  </a:lnTo>
                  <a:cubicBezTo>
                    <a:pt x="2008306" y="537529"/>
                    <a:pt x="1985335" y="560501"/>
                    <a:pt x="1956997" y="560501"/>
                  </a:cubicBezTo>
                  <a:lnTo>
                    <a:pt x="51309" y="560501"/>
                  </a:lnTo>
                  <a:cubicBezTo>
                    <a:pt x="22972" y="560501"/>
                    <a:pt x="0" y="537529"/>
                    <a:pt x="0" y="509191"/>
                  </a:cubicBezTo>
                  <a:lnTo>
                    <a:pt x="0" y="51309"/>
                  </a:lnTo>
                  <a:cubicBezTo>
                    <a:pt x="0" y="22972"/>
                    <a:pt x="22972" y="0"/>
                    <a:pt x="51309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008307" cy="598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944049" y="8042029"/>
            <a:ext cx="3303356" cy="6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BUILD SYSTEM</a:t>
            </a:r>
          </a:p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MAKEFILE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408129" y="7817315"/>
            <a:ext cx="3470419" cy="1058593"/>
            <a:chOff x="0" y="0"/>
            <a:chExt cx="2008307" cy="612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08306" cy="612600"/>
            </a:xfrm>
            <a:custGeom>
              <a:avLst/>
              <a:gdLst/>
              <a:ahLst/>
              <a:cxnLst/>
              <a:rect l="l" t="t" r="r" b="b"/>
              <a:pathLst>
                <a:path w="2008306" h="612600">
                  <a:moveTo>
                    <a:pt x="51309" y="0"/>
                  </a:moveTo>
                  <a:lnTo>
                    <a:pt x="1956997" y="0"/>
                  </a:lnTo>
                  <a:cubicBezTo>
                    <a:pt x="1970605" y="0"/>
                    <a:pt x="1983656" y="5406"/>
                    <a:pt x="1993278" y="15028"/>
                  </a:cubicBezTo>
                  <a:cubicBezTo>
                    <a:pt x="2002901" y="24650"/>
                    <a:pt x="2008306" y="37701"/>
                    <a:pt x="2008306" y="51309"/>
                  </a:cubicBezTo>
                  <a:lnTo>
                    <a:pt x="2008306" y="561291"/>
                  </a:lnTo>
                  <a:cubicBezTo>
                    <a:pt x="2008306" y="589628"/>
                    <a:pt x="1985335" y="612600"/>
                    <a:pt x="1956997" y="612600"/>
                  </a:cubicBezTo>
                  <a:lnTo>
                    <a:pt x="51309" y="612600"/>
                  </a:lnTo>
                  <a:cubicBezTo>
                    <a:pt x="22972" y="612600"/>
                    <a:pt x="0" y="589628"/>
                    <a:pt x="0" y="561291"/>
                  </a:cubicBezTo>
                  <a:lnTo>
                    <a:pt x="0" y="51309"/>
                  </a:lnTo>
                  <a:cubicBezTo>
                    <a:pt x="0" y="22972"/>
                    <a:pt x="22972" y="0"/>
                    <a:pt x="5130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008307" cy="65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247405" y="8038824"/>
            <a:ext cx="3631142" cy="63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IDE</a:t>
            </a:r>
          </a:p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VS+ MINGW/GCC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160017" y="1028700"/>
            <a:ext cx="15967966" cy="8504568"/>
            <a:chOff x="0" y="0"/>
            <a:chExt cx="4205555" cy="22398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05555" cy="2239886"/>
            </a:xfrm>
            <a:custGeom>
              <a:avLst/>
              <a:gdLst/>
              <a:ahLst/>
              <a:cxnLst/>
              <a:rect l="l" t="t" r="r" b="b"/>
              <a:pathLst>
                <a:path w="4205555" h="2239886">
                  <a:moveTo>
                    <a:pt x="11151" y="0"/>
                  </a:moveTo>
                  <a:lnTo>
                    <a:pt x="4194404" y="0"/>
                  </a:lnTo>
                  <a:cubicBezTo>
                    <a:pt x="4197361" y="0"/>
                    <a:pt x="4200198" y="1175"/>
                    <a:pt x="4202289" y="3266"/>
                  </a:cubicBezTo>
                  <a:cubicBezTo>
                    <a:pt x="4204380" y="5357"/>
                    <a:pt x="4205555" y="8194"/>
                    <a:pt x="4205555" y="11151"/>
                  </a:cubicBezTo>
                  <a:lnTo>
                    <a:pt x="4205555" y="2228735"/>
                  </a:lnTo>
                  <a:cubicBezTo>
                    <a:pt x="4205555" y="2231692"/>
                    <a:pt x="4204380" y="2234529"/>
                    <a:pt x="4202289" y="2236620"/>
                  </a:cubicBezTo>
                  <a:cubicBezTo>
                    <a:pt x="4200198" y="2238711"/>
                    <a:pt x="4197361" y="2239886"/>
                    <a:pt x="4194404" y="2239886"/>
                  </a:cubicBezTo>
                  <a:lnTo>
                    <a:pt x="11151" y="2239886"/>
                  </a:lnTo>
                  <a:cubicBezTo>
                    <a:pt x="8194" y="2239886"/>
                    <a:pt x="5357" y="2238711"/>
                    <a:pt x="3266" y="2236620"/>
                  </a:cubicBezTo>
                  <a:cubicBezTo>
                    <a:pt x="1175" y="2234529"/>
                    <a:pt x="0" y="2231692"/>
                    <a:pt x="0" y="2228735"/>
                  </a:cubicBezTo>
                  <a:lnTo>
                    <a:pt x="0" y="11151"/>
                  </a:lnTo>
                  <a:cubicBezTo>
                    <a:pt x="0" y="8194"/>
                    <a:pt x="1175" y="5357"/>
                    <a:pt x="3266" y="3266"/>
                  </a:cubicBezTo>
                  <a:cubicBezTo>
                    <a:pt x="5357" y="1175"/>
                    <a:pt x="8194" y="0"/>
                    <a:pt x="11151" y="0"/>
                  </a:cubicBezTo>
                  <a:close/>
                </a:path>
              </a:pathLst>
            </a:custGeom>
            <a:solidFill>
              <a:srgbClr val="FFFFC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4205555" cy="22208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34589" y="1986434"/>
            <a:ext cx="3925465" cy="1180009"/>
            <a:chOff x="0" y="0"/>
            <a:chExt cx="1033867" cy="3107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3867" cy="310784"/>
            </a:xfrm>
            <a:custGeom>
              <a:avLst/>
              <a:gdLst/>
              <a:ahLst/>
              <a:cxnLst/>
              <a:rect l="l" t="t" r="r" b="b"/>
              <a:pathLst>
                <a:path w="1033867" h="310784">
                  <a:moveTo>
                    <a:pt x="45361" y="0"/>
                  </a:moveTo>
                  <a:lnTo>
                    <a:pt x="988506" y="0"/>
                  </a:lnTo>
                  <a:cubicBezTo>
                    <a:pt x="1013558" y="0"/>
                    <a:pt x="1033867" y="20309"/>
                    <a:pt x="1033867" y="45361"/>
                  </a:cubicBezTo>
                  <a:lnTo>
                    <a:pt x="1033867" y="265423"/>
                  </a:lnTo>
                  <a:cubicBezTo>
                    <a:pt x="1033867" y="290475"/>
                    <a:pt x="1013558" y="310784"/>
                    <a:pt x="988506" y="310784"/>
                  </a:cubicBezTo>
                  <a:lnTo>
                    <a:pt x="45361" y="310784"/>
                  </a:lnTo>
                  <a:cubicBezTo>
                    <a:pt x="20309" y="310784"/>
                    <a:pt x="0" y="290475"/>
                    <a:pt x="0" y="265423"/>
                  </a:cubicBezTo>
                  <a:lnTo>
                    <a:pt x="0" y="45361"/>
                  </a:lnTo>
                  <a:cubicBezTo>
                    <a:pt x="0" y="20309"/>
                    <a:pt x="20309" y="0"/>
                    <a:pt x="45361" y="0"/>
                  </a:cubicBezTo>
                  <a:close/>
                </a:path>
              </a:pathLst>
            </a:custGeom>
            <a:solidFill>
              <a:srgbClr val="FF5DA6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33867" cy="348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844035" y="2147389"/>
            <a:ext cx="2306572" cy="817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6"/>
              </a:lnSpc>
            </a:pPr>
            <a:r>
              <a:rPr lang="en-US" sz="28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«ABSTRACT»</a:t>
            </a:r>
            <a:r>
              <a:rPr lang="en-US" sz="2800" u="none" strike="noStrike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ENTITY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3552" y="1212506"/>
            <a:ext cx="10791171" cy="61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10"/>
              </a:lnSpc>
              <a:spcBef>
                <a:spcPct val="0"/>
              </a:spcBef>
            </a:pPr>
            <a:r>
              <a:rPr lang="en-US" sz="4149">
                <a:solidFill>
                  <a:srgbClr val="FF83BB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CLASS HIERARCHY &amp; ARCHITECTURE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048000" y="8170356"/>
            <a:ext cx="4315547" cy="1180245"/>
            <a:chOff x="0" y="0"/>
            <a:chExt cx="2497376" cy="683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97376" cy="683000"/>
            </a:xfrm>
            <a:custGeom>
              <a:avLst/>
              <a:gdLst/>
              <a:ahLst/>
              <a:cxnLst/>
              <a:rect l="l" t="t" r="r" b="b"/>
              <a:pathLst>
                <a:path w="2497376" h="683000">
                  <a:moveTo>
                    <a:pt x="41261" y="0"/>
                  </a:moveTo>
                  <a:lnTo>
                    <a:pt x="2456115" y="0"/>
                  </a:lnTo>
                  <a:cubicBezTo>
                    <a:pt x="2478903" y="0"/>
                    <a:pt x="2497376" y="18473"/>
                    <a:pt x="2497376" y="41261"/>
                  </a:cubicBezTo>
                  <a:lnTo>
                    <a:pt x="2497376" y="641738"/>
                  </a:lnTo>
                  <a:cubicBezTo>
                    <a:pt x="2497376" y="664526"/>
                    <a:pt x="2478903" y="683000"/>
                    <a:pt x="2456115" y="683000"/>
                  </a:cubicBezTo>
                  <a:lnTo>
                    <a:pt x="41261" y="683000"/>
                  </a:lnTo>
                  <a:cubicBezTo>
                    <a:pt x="18473" y="683000"/>
                    <a:pt x="0" y="664526"/>
                    <a:pt x="0" y="641738"/>
                  </a:cubicBezTo>
                  <a:lnTo>
                    <a:pt x="0" y="41261"/>
                  </a:lnTo>
                  <a:cubicBezTo>
                    <a:pt x="0" y="18473"/>
                    <a:pt x="18473" y="0"/>
                    <a:pt x="41261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97376" cy="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415782" y="8312246"/>
            <a:ext cx="3303356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GAME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484256" y="2525526"/>
            <a:ext cx="494295" cy="620691"/>
          </a:xfrm>
          <a:custGeom>
            <a:avLst/>
            <a:gdLst/>
            <a:ahLst/>
            <a:cxnLst/>
            <a:rect l="l" t="t" r="r" b="b"/>
            <a:pathLst>
              <a:path w="494295" h="620691">
                <a:moveTo>
                  <a:pt x="0" y="0"/>
                </a:moveTo>
                <a:lnTo>
                  <a:pt x="494295" y="0"/>
                </a:lnTo>
                <a:lnTo>
                  <a:pt x="494295" y="620691"/>
                </a:lnTo>
                <a:lnTo>
                  <a:pt x="0" y="6206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16901481" y="2281782"/>
            <a:ext cx="357819" cy="449316"/>
          </a:xfrm>
          <a:custGeom>
            <a:avLst/>
            <a:gdLst/>
            <a:ahLst/>
            <a:cxnLst/>
            <a:rect l="l" t="t" r="r" b="b"/>
            <a:pathLst>
              <a:path w="357819" h="449316">
                <a:moveTo>
                  <a:pt x="0" y="0"/>
                </a:moveTo>
                <a:lnTo>
                  <a:pt x="357819" y="0"/>
                </a:lnTo>
                <a:lnTo>
                  <a:pt x="357819" y="449317"/>
                </a:lnTo>
                <a:lnTo>
                  <a:pt x="0" y="449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1144642" y="6687840"/>
            <a:ext cx="494295" cy="620691"/>
          </a:xfrm>
          <a:custGeom>
            <a:avLst/>
            <a:gdLst/>
            <a:ahLst/>
            <a:cxnLst/>
            <a:rect l="l" t="t" r="r" b="b"/>
            <a:pathLst>
              <a:path w="494295" h="620691">
                <a:moveTo>
                  <a:pt x="0" y="0"/>
                </a:moveTo>
                <a:lnTo>
                  <a:pt x="494296" y="0"/>
                </a:lnTo>
                <a:lnTo>
                  <a:pt x="494296" y="620691"/>
                </a:lnTo>
                <a:lnTo>
                  <a:pt x="0" y="6206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965733" y="6348882"/>
            <a:ext cx="357819" cy="449316"/>
          </a:xfrm>
          <a:custGeom>
            <a:avLst/>
            <a:gdLst/>
            <a:ahLst/>
            <a:cxnLst/>
            <a:rect l="l" t="t" r="r" b="b"/>
            <a:pathLst>
              <a:path w="357819" h="449316">
                <a:moveTo>
                  <a:pt x="0" y="0"/>
                </a:moveTo>
                <a:lnTo>
                  <a:pt x="357819" y="0"/>
                </a:lnTo>
                <a:lnTo>
                  <a:pt x="357819" y="449316"/>
                </a:lnTo>
                <a:lnTo>
                  <a:pt x="0" y="449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3" name="Group 23"/>
          <p:cNvGrpSpPr/>
          <p:nvPr/>
        </p:nvGrpSpPr>
        <p:grpSpPr>
          <a:xfrm>
            <a:off x="7406409" y="8125341"/>
            <a:ext cx="3470419" cy="1225260"/>
            <a:chOff x="0" y="0"/>
            <a:chExt cx="2008307" cy="7090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08306" cy="709049"/>
            </a:xfrm>
            <a:custGeom>
              <a:avLst/>
              <a:gdLst/>
              <a:ahLst/>
              <a:cxnLst/>
              <a:rect l="l" t="t" r="r" b="b"/>
              <a:pathLst>
                <a:path w="2008306" h="709049">
                  <a:moveTo>
                    <a:pt x="51309" y="0"/>
                  </a:moveTo>
                  <a:lnTo>
                    <a:pt x="1956997" y="0"/>
                  </a:lnTo>
                  <a:cubicBezTo>
                    <a:pt x="1970605" y="0"/>
                    <a:pt x="1983656" y="5406"/>
                    <a:pt x="1993278" y="15028"/>
                  </a:cubicBezTo>
                  <a:cubicBezTo>
                    <a:pt x="2002901" y="24650"/>
                    <a:pt x="2008306" y="37701"/>
                    <a:pt x="2008306" y="51309"/>
                  </a:cubicBezTo>
                  <a:lnTo>
                    <a:pt x="2008306" y="657740"/>
                  </a:lnTo>
                  <a:cubicBezTo>
                    <a:pt x="2008306" y="686078"/>
                    <a:pt x="1985335" y="709049"/>
                    <a:pt x="1956997" y="709049"/>
                  </a:cubicBezTo>
                  <a:lnTo>
                    <a:pt x="51309" y="709049"/>
                  </a:lnTo>
                  <a:cubicBezTo>
                    <a:pt x="37701" y="709049"/>
                    <a:pt x="24650" y="703644"/>
                    <a:pt x="15028" y="694021"/>
                  </a:cubicBezTo>
                  <a:cubicBezTo>
                    <a:pt x="5406" y="684399"/>
                    <a:pt x="0" y="671348"/>
                    <a:pt x="0" y="657740"/>
                  </a:cubicBezTo>
                  <a:lnTo>
                    <a:pt x="0" y="51309"/>
                  </a:lnTo>
                  <a:cubicBezTo>
                    <a:pt x="0" y="22972"/>
                    <a:pt x="22972" y="0"/>
                    <a:pt x="5130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008307" cy="747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326048" y="8225407"/>
            <a:ext cx="3631142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UIMANAGER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924453" y="8135454"/>
            <a:ext cx="4455068" cy="1215147"/>
            <a:chOff x="0" y="0"/>
            <a:chExt cx="2578116" cy="7031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78116" cy="703197"/>
            </a:xfrm>
            <a:custGeom>
              <a:avLst/>
              <a:gdLst/>
              <a:ahLst/>
              <a:cxnLst/>
              <a:rect l="l" t="t" r="r" b="b"/>
              <a:pathLst>
                <a:path w="2578116" h="703197">
                  <a:moveTo>
                    <a:pt x="39969" y="0"/>
                  </a:moveTo>
                  <a:lnTo>
                    <a:pt x="2538147" y="0"/>
                  </a:lnTo>
                  <a:cubicBezTo>
                    <a:pt x="2560222" y="0"/>
                    <a:pt x="2578116" y="17895"/>
                    <a:pt x="2578116" y="39969"/>
                  </a:cubicBezTo>
                  <a:lnTo>
                    <a:pt x="2578116" y="663228"/>
                  </a:lnTo>
                  <a:cubicBezTo>
                    <a:pt x="2578116" y="685302"/>
                    <a:pt x="2560222" y="703197"/>
                    <a:pt x="2538147" y="703197"/>
                  </a:cubicBezTo>
                  <a:lnTo>
                    <a:pt x="39969" y="703197"/>
                  </a:lnTo>
                  <a:cubicBezTo>
                    <a:pt x="17895" y="703197"/>
                    <a:pt x="0" y="685302"/>
                    <a:pt x="0" y="663228"/>
                  </a:cubicBezTo>
                  <a:lnTo>
                    <a:pt x="0" y="39969"/>
                  </a:lnTo>
                  <a:cubicBezTo>
                    <a:pt x="0" y="17895"/>
                    <a:pt x="17895" y="0"/>
                    <a:pt x="39969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78116" cy="74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007984" y="8312246"/>
            <a:ext cx="4371537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SCOREMANAGER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52224" y="4391512"/>
            <a:ext cx="2809068" cy="1275134"/>
            <a:chOff x="0" y="0"/>
            <a:chExt cx="1625588" cy="73791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25588" cy="737911"/>
            </a:xfrm>
            <a:custGeom>
              <a:avLst/>
              <a:gdLst/>
              <a:ahLst/>
              <a:cxnLst/>
              <a:rect l="l" t="t" r="r" b="b"/>
              <a:pathLst>
                <a:path w="1625588" h="737911">
                  <a:moveTo>
                    <a:pt x="63389" y="0"/>
                  </a:moveTo>
                  <a:lnTo>
                    <a:pt x="1562199" y="0"/>
                  </a:lnTo>
                  <a:cubicBezTo>
                    <a:pt x="1579011" y="0"/>
                    <a:pt x="1595134" y="6678"/>
                    <a:pt x="1607022" y="18566"/>
                  </a:cubicBezTo>
                  <a:cubicBezTo>
                    <a:pt x="1618909" y="30454"/>
                    <a:pt x="1625588" y="46577"/>
                    <a:pt x="1625588" y="63389"/>
                  </a:cubicBezTo>
                  <a:lnTo>
                    <a:pt x="1625588" y="674522"/>
                  </a:lnTo>
                  <a:cubicBezTo>
                    <a:pt x="1625588" y="691334"/>
                    <a:pt x="1618909" y="707457"/>
                    <a:pt x="1607022" y="719345"/>
                  </a:cubicBezTo>
                  <a:cubicBezTo>
                    <a:pt x="1595134" y="731232"/>
                    <a:pt x="1579011" y="737911"/>
                    <a:pt x="1562199" y="737911"/>
                  </a:cubicBezTo>
                  <a:lnTo>
                    <a:pt x="63389" y="737911"/>
                  </a:lnTo>
                  <a:cubicBezTo>
                    <a:pt x="46577" y="737911"/>
                    <a:pt x="30454" y="731232"/>
                    <a:pt x="18566" y="719345"/>
                  </a:cubicBezTo>
                  <a:cubicBezTo>
                    <a:pt x="6678" y="707457"/>
                    <a:pt x="0" y="691334"/>
                    <a:pt x="0" y="674522"/>
                  </a:cubicBezTo>
                  <a:lnTo>
                    <a:pt x="0" y="63389"/>
                  </a:lnTo>
                  <a:cubicBezTo>
                    <a:pt x="0" y="46577"/>
                    <a:pt x="6678" y="30454"/>
                    <a:pt x="18566" y="18566"/>
                  </a:cubicBezTo>
                  <a:cubicBezTo>
                    <a:pt x="30454" y="6678"/>
                    <a:pt x="46577" y="0"/>
                    <a:pt x="6338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625588" cy="776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19154" y="4391512"/>
            <a:ext cx="2809068" cy="1166688"/>
            <a:chOff x="0" y="0"/>
            <a:chExt cx="1625588" cy="67515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25588" cy="675154"/>
            </a:xfrm>
            <a:custGeom>
              <a:avLst/>
              <a:gdLst/>
              <a:ahLst/>
              <a:cxnLst/>
              <a:rect l="l" t="t" r="r" b="b"/>
              <a:pathLst>
                <a:path w="1625588" h="675154">
                  <a:moveTo>
                    <a:pt x="63389" y="0"/>
                  </a:moveTo>
                  <a:lnTo>
                    <a:pt x="1562199" y="0"/>
                  </a:lnTo>
                  <a:cubicBezTo>
                    <a:pt x="1579011" y="0"/>
                    <a:pt x="1595134" y="6678"/>
                    <a:pt x="1607022" y="18566"/>
                  </a:cubicBezTo>
                  <a:cubicBezTo>
                    <a:pt x="1618909" y="30454"/>
                    <a:pt x="1625588" y="46577"/>
                    <a:pt x="1625588" y="63389"/>
                  </a:cubicBezTo>
                  <a:lnTo>
                    <a:pt x="1625588" y="611765"/>
                  </a:lnTo>
                  <a:cubicBezTo>
                    <a:pt x="1625588" y="628577"/>
                    <a:pt x="1618909" y="644700"/>
                    <a:pt x="1607022" y="656588"/>
                  </a:cubicBezTo>
                  <a:cubicBezTo>
                    <a:pt x="1595134" y="668475"/>
                    <a:pt x="1579011" y="675154"/>
                    <a:pt x="1562199" y="675154"/>
                  </a:cubicBezTo>
                  <a:lnTo>
                    <a:pt x="63389" y="675154"/>
                  </a:lnTo>
                  <a:cubicBezTo>
                    <a:pt x="46577" y="675154"/>
                    <a:pt x="30454" y="668475"/>
                    <a:pt x="18566" y="656588"/>
                  </a:cubicBezTo>
                  <a:cubicBezTo>
                    <a:pt x="6678" y="644700"/>
                    <a:pt x="0" y="628577"/>
                    <a:pt x="0" y="611765"/>
                  </a:cubicBezTo>
                  <a:lnTo>
                    <a:pt x="0" y="63389"/>
                  </a:lnTo>
                  <a:cubicBezTo>
                    <a:pt x="0" y="46577"/>
                    <a:pt x="6678" y="30454"/>
                    <a:pt x="18566" y="18566"/>
                  </a:cubicBezTo>
                  <a:cubicBezTo>
                    <a:pt x="30454" y="6678"/>
                    <a:pt x="46577" y="0"/>
                    <a:pt x="63389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625588" cy="713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452224" y="4612426"/>
            <a:ext cx="2912510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SUBMARINE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98891" y="4551361"/>
            <a:ext cx="2649595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SEA CREATURE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592644" y="4337289"/>
            <a:ext cx="2809068" cy="1275134"/>
            <a:chOff x="0" y="0"/>
            <a:chExt cx="1625588" cy="73791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625588" cy="737911"/>
            </a:xfrm>
            <a:custGeom>
              <a:avLst/>
              <a:gdLst/>
              <a:ahLst/>
              <a:cxnLst/>
              <a:rect l="l" t="t" r="r" b="b"/>
              <a:pathLst>
                <a:path w="1625588" h="737911">
                  <a:moveTo>
                    <a:pt x="63389" y="0"/>
                  </a:moveTo>
                  <a:lnTo>
                    <a:pt x="1562199" y="0"/>
                  </a:lnTo>
                  <a:cubicBezTo>
                    <a:pt x="1579011" y="0"/>
                    <a:pt x="1595134" y="6678"/>
                    <a:pt x="1607022" y="18566"/>
                  </a:cubicBezTo>
                  <a:cubicBezTo>
                    <a:pt x="1618909" y="30454"/>
                    <a:pt x="1625588" y="46577"/>
                    <a:pt x="1625588" y="63389"/>
                  </a:cubicBezTo>
                  <a:lnTo>
                    <a:pt x="1625588" y="674522"/>
                  </a:lnTo>
                  <a:cubicBezTo>
                    <a:pt x="1625588" y="691334"/>
                    <a:pt x="1618909" y="707457"/>
                    <a:pt x="1607022" y="719345"/>
                  </a:cubicBezTo>
                  <a:cubicBezTo>
                    <a:pt x="1595134" y="731232"/>
                    <a:pt x="1579011" y="737911"/>
                    <a:pt x="1562199" y="737911"/>
                  </a:cubicBezTo>
                  <a:lnTo>
                    <a:pt x="63389" y="737911"/>
                  </a:lnTo>
                  <a:cubicBezTo>
                    <a:pt x="46577" y="737911"/>
                    <a:pt x="30454" y="731232"/>
                    <a:pt x="18566" y="719345"/>
                  </a:cubicBezTo>
                  <a:cubicBezTo>
                    <a:pt x="6678" y="707457"/>
                    <a:pt x="0" y="691334"/>
                    <a:pt x="0" y="674522"/>
                  </a:cubicBezTo>
                  <a:lnTo>
                    <a:pt x="0" y="63389"/>
                  </a:lnTo>
                  <a:cubicBezTo>
                    <a:pt x="0" y="46577"/>
                    <a:pt x="6678" y="30454"/>
                    <a:pt x="18566" y="18566"/>
                  </a:cubicBezTo>
                  <a:cubicBezTo>
                    <a:pt x="30454" y="6678"/>
                    <a:pt x="46577" y="0"/>
                    <a:pt x="6338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625588" cy="776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541067" y="4551064"/>
            <a:ext cx="2912510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BLUE WHALE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1155157" y="4349471"/>
            <a:ext cx="2809068" cy="1166688"/>
            <a:chOff x="0" y="0"/>
            <a:chExt cx="1625588" cy="67515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625588" cy="675154"/>
            </a:xfrm>
            <a:custGeom>
              <a:avLst/>
              <a:gdLst/>
              <a:ahLst/>
              <a:cxnLst/>
              <a:rect l="l" t="t" r="r" b="b"/>
              <a:pathLst>
                <a:path w="1625588" h="675154">
                  <a:moveTo>
                    <a:pt x="63389" y="0"/>
                  </a:moveTo>
                  <a:lnTo>
                    <a:pt x="1562199" y="0"/>
                  </a:lnTo>
                  <a:cubicBezTo>
                    <a:pt x="1579011" y="0"/>
                    <a:pt x="1595134" y="6678"/>
                    <a:pt x="1607022" y="18566"/>
                  </a:cubicBezTo>
                  <a:cubicBezTo>
                    <a:pt x="1618909" y="30454"/>
                    <a:pt x="1625588" y="46577"/>
                    <a:pt x="1625588" y="63389"/>
                  </a:cubicBezTo>
                  <a:lnTo>
                    <a:pt x="1625588" y="611765"/>
                  </a:lnTo>
                  <a:cubicBezTo>
                    <a:pt x="1625588" y="628577"/>
                    <a:pt x="1618909" y="644700"/>
                    <a:pt x="1607022" y="656588"/>
                  </a:cubicBezTo>
                  <a:cubicBezTo>
                    <a:pt x="1595134" y="668475"/>
                    <a:pt x="1579011" y="675154"/>
                    <a:pt x="1562199" y="675154"/>
                  </a:cubicBezTo>
                  <a:lnTo>
                    <a:pt x="63389" y="675154"/>
                  </a:lnTo>
                  <a:cubicBezTo>
                    <a:pt x="46577" y="675154"/>
                    <a:pt x="30454" y="668475"/>
                    <a:pt x="18566" y="656588"/>
                  </a:cubicBezTo>
                  <a:cubicBezTo>
                    <a:pt x="6678" y="644700"/>
                    <a:pt x="0" y="628577"/>
                    <a:pt x="0" y="611765"/>
                  </a:cubicBezTo>
                  <a:lnTo>
                    <a:pt x="0" y="63389"/>
                  </a:lnTo>
                  <a:cubicBezTo>
                    <a:pt x="0" y="46577"/>
                    <a:pt x="6678" y="30454"/>
                    <a:pt x="18566" y="18566"/>
                  </a:cubicBezTo>
                  <a:cubicBezTo>
                    <a:pt x="30454" y="6678"/>
                    <a:pt x="46577" y="0"/>
                    <a:pt x="63389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625588" cy="713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273672" y="4516459"/>
            <a:ext cx="2649595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CORAL BLOCK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4026708" y="4291745"/>
            <a:ext cx="2809068" cy="1275134"/>
            <a:chOff x="0" y="0"/>
            <a:chExt cx="1625588" cy="73791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625588" cy="737911"/>
            </a:xfrm>
            <a:custGeom>
              <a:avLst/>
              <a:gdLst/>
              <a:ahLst/>
              <a:cxnLst/>
              <a:rect l="l" t="t" r="r" b="b"/>
              <a:pathLst>
                <a:path w="1625588" h="737911">
                  <a:moveTo>
                    <a:pt x="63389" y="0"/>
                  </a:moveTo>
                  <a:lnTo>
                    <a:pt x="1562199" y="0"/>
                  </a:lnTo>
                  <a:cubicBezTo>
                    <a:pt x="1579011" y="0"/>
                    <a:pt x="1595134" y="6678"/>
                    <a:pt x="1607022" y="18566"/>
                  </a:cubicBezTo>
                  <a:cubicBezTo>
                    <a:pt x="1618909" y="30454"/>
                    <a:pt x="1625588" y="46577"/>
                    <a:pt x="1625588" y="63389"/>
                  </a:cubicBezTo>
                  <a:lnTo>
                    <a:pt x="1625588" y="674522"/>
                  </a:lnTo>
                  <a:cubicBezTo>
                    <a:pt x="1625588" y="691334"/>
                    <a:pt x="1618909" y="707457"/>
                    <a:pt x="1607022" y="719345"/>
                  </a:cubicBezTo>
                  <a:cubicBezTo>
                    <a:pt x="1595134" y="731232"/>
                    <a:pt x="1579011" y="737911"/>
                    <a:pt x="1562199" y="737911"/>
                  </a:cubicBezTo>
                  <a:lnTo>
                    <a:pt x="63389" y="737911"/>
                  </a:lnTo>
                  <a:cubicBezTo>
                    <a:pt x="46577" y="737911"/>
                    <a:pt x="30454" y="731232"/>
                    <a:pt x="18566" y="719345"/>
                  </a:cubicBezTo>
                  <a:cubicBezTo>
                    <a:pt x="6678" y="707457"/>
                    <a:pt x="0" y="691334"/>
                    <a:pt x="0" y="674522"/>
                  </a:cubicBezTo>
                  <a:lnTo>
                    <a:pt x="0" y="63389"/>
                  </a:lnTo>
                  <a:cubicBezTo>
                    <a:pt x="0" y="46577"/>
                    <a:pt x="6678" y="30454"/>
                    <a:pt x="18566" y="18566"/>
                  </a:cubicBezTo>
                  <a:cubicBezTo>
                    <a:pt x="30454" y="6678"/>
                    <a:pt x="46577" y="0"/>
                    <a:pt x="6338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625588" cy="776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3923266" y="4513254"/>
            <a:ext cx="2912510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POWERUP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5630055" y="5831498"/>
            <a:ext cx="2809068" cy="1166688"/>
            <a:chOff x="0" y="0"/>
            <a:chExt cx="1625588" cy="67515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625588" cy="675154"/>
            </a:xfrm>
            <a:custGeom>
              <a:avLst/>
              <a:gdLst/>
              <a:ahLst/>
              <a:cxnLst/>
              <a:rect l="l" t="t" r="r" b="b"/>
              <a:pathLst>
                <a:path w="1625588" h="675154">
                  <a:moveTo>
                    <a:pt x="63389" y="0"/>
                  </a:moveTo>
                  <a:lnTo>
                    <a:pt x="1562199" y="0"/>
                  </a:lnTo>
                  <a:cubicBezTo>
                    <a:pt x="1579011" y="0"/>
                    <a:pt x="1595134" y="6678"/>
                    <a:pt x="1607022" y="18566"/>
                  </a:cubicBezTo>
                  <a:cubicBezTo>
                    <a:pt x="1618909" y="30454"/>
                    <a:pt x="1625588" y="46577"/>
                    <a:pt x="1625588" y="63389"/>
                  </a:cubicBezTo>
                  <a:lnTo>
                    <a:pt x="1625588" y="611765"/>
                  </a:lnTo>
                  <a:cubicBezTo>
                    <a:pt x="1625588" y="628577"/>
                    <a:pt x="1618909" y="644700"/>
                    <a:pt x="1607022" y="656588"/>
                  </a:cubicBezTo>
                  <a:cubicBezTo>
                    <a:pt x="1595134" y="668475"/>
                    <a:pt x="1579011" y="675154"/>
                    <a:pt x="1562199" y="675154"/>
                  </a:cubicBezTo>
                  <a:lnTo>
                    <a:pt x="63389" y="675154"/>
                  </a:lnTo>
                  <a:cubicBezTo>
                    <a:pt x="46577" y="675154"/>
                    <a:pt x="30454" y="668475"/>
                    <a:pt x="18566" y="656588"/>
                  </a:cubicBezTo>
                  <a:cubicBezTo>
                    <a:pt x="6678" y="644700"/>
                    <a:pt x="0" y="628577"/>
                    <a:pt x="0" y="611765"/>
                  </a:cubicBezTo>
                  <a:lnTo>
                    <a:pt x="0" y="63389"/>
                  </a:lnTo>
                  <a:cubicBezTo>
                    <a:pt x="0" y="46577"/>
                    <a:pt x="6678" y="30454"/>
                    <a:pt x="18566" y="18566"/>
                  </a:cubicBezTo>
                  <a:cubicBezTo>
                    <a:pt x="30454" y="6678"/>
                    <a:pt x="46577" y="0"/>
                    <a:pt x="63389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625588" cy="713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748569" y="5998487"/>
            <a:ext cx="2649595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TORPEDO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555520" y="5831498"/>
            <a:ext cx="2809068" cy="1166688"/>
            <a:chOff x="0" y="0"/>
            <a:chExt cx="1625588" cy="67515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625588" cy="675154"/>
            </a:xfrm>
            <a:custGeom>
              <a:avLst/>
              <a:gdLst/>
              <a:ahLst/>
              <a:cxnLst/>
              <a:rect l="l" t="t" r="r" b="b"/>
              <a:pathLst>
                <a:path w="1625588" h="675154">
                  <a:moveTo>
                    <a:pt x="63389" y="0"/>
                  </a:moveTo>
                  <a:lnTo>
                    <a:pt x="1562199" y="0"/>
                  </a:lnTo>
                  <a:cubicBezTo>
                    <a:pt x="1579011" y="0"/>
                    <a:pt x="1595134" y="6678"/>
                    <a:pt x="1607022" y="18566"/>
                  </a:cubicBezTo>
                  <a:cubicBezTo>
                    <a:pt x="1618909" y="30454"/>
                    <a:pt x="1625588" y="46577"/>
                    <a:pt x="1625588" y="63389"/>
                  </a:cubicBezTo>
                  <a:lnTo>
                    <a:pt x="1625588" y="611765"/>
                  </a:lnTo>
                  <a:cubicBezTo>
                    <a:pt x="1625588" y="628577"/>
                    <a:pt x="1618909" y="644700"/>
                    <a:pt x="1607022" y="656588"/>
                  </a:cubicBezTo>
                  <a:cubicBezTo>
                    <a:pt x="1595134" y="668475"/>
                    <a:pt x="1579011" y="675154"/>
                    <a:pt x="1562199" y="675154"/>
                  </a:cubicBezTo>
                  <a:lnTo>
                    <a:pt x="63389" y="675154"/>
                  </a:lnTo>
                  <a:cubicBezTo>
                    <a:pt x="46577" y="675154"/>
                    <a:pt x="30454" y="668475"/>
                    <a:pt x="18566" y="656588"/>
                  </a:cubicBezTo>
                  <a:cubicBezTo>
                    <a:pt x="6678" y="644700"/>
                    <a:pt x="0" y="628577"/>
                    <a:pt x="0" y="611765"/>
                  </a:cubicBezTo>
                  <a:lnTo>
                    <a:pt x="0" y="63389"/>
                  </a:lnTo>
                  <a:cubicBezTo>
                    <a:pt x="0" y="46577"/>
                    <a:pt x="6678" y="30454"/>
                    <a:pt x="18566" y="18566"/>
                  </a:cubicBezTo>
                  <a:cubicBezTo>
                    <a:pt x="30454" y="6678"/>
                    <a:pt x="46577" y="0"/>
                    <a:pt x="63389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625588" cy="713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674034" y="5998487"/>
            <a:ext cx="2649595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CORAL BUNKER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21111" y="7327581"/>
            <a:ext cx="16475579" cy="61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10"/>
              </a:lnSpc>
              <a:spcBef>
                <a:spcPct val="0"/>
              </a:spcBef>
            </a:pPr>
            <a:r>
              <a:rPr lang="en-US" sz="4149">
                <a:solidFill>
                  <a:srgbClr val="FF83BB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STANDALONE CLASSES </a:t>
            </a:r>
          </a:p>
        </p:txBody>
      </p:sp>
      <p:sp>
        <p:nvSpPr>
          <p:cNvPr id="60" name="AutoShape 60"/>
          <p:cNvSpPr/>
          <p:nvPr/>
        </p:nvSpPr>
        <p:spPr>
          <a:xfrm>
            <a:off x="2856758" y="3763346"/>
            <a:ext cx="125744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1" name="AutoShape 61"/>
          <p:cNvSpPr/>
          <p:nvPr/>
        </p:nvSpPr>
        <p:spPr>
          <a:xfrm flipV="1">
            <a:off x="8997178" y="3297509"/>
            <a:ext cx="0" cy="4658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2" name="AutoShape 62"/>
          <p:cNvSpPr/>
          <p:nvPr/>
        </p:nvSpPr>
        <p:spPr>
          <a:xfrm flipH="1" flipV="1">
            <a:off x="2856758" y="3763346"/>
            <a:ext cx="0" cy="6281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3" name="AutoShape 63"/>
          <p:cNvSpPr/>
          <p:nvPr/>
        </p:nvSpPr>
        <p:spPr>
          <a:xfrm flipV="1">
            <a:off x="5723689" y="3763346"/>
            <a:ext cx="0" cy="6281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4" name="AutoShape 64"/>
          <p:cNvSpPr/>
          <p:nvPr/>
        </p:nvSpPr>
        <p:spPr>
          <a:xfrm flipH="1" flipV="1">
            <a:off x="8997178" y="3763346"/>
            <a:ext cx="0" cy="5739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5" name="AutoShape 65"/>
          <p:cNvSpPr/>
          <p:nvPr/>
        </p:nvSpPr>
        <p:spPr>
          <a:xfrm flipV="1">
            <a:off x="7280016" y="3763346"/>
            <a:ext cx="0" cy="206815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6" name="AutoShape 66"/>
          <p:cNvSpPr/>
          <p:nvPr/>
        </p:nvSpPr>
        <p:spPr>
          <a:xfrm flipV="1">
            <a:off x="10804367" y="3791868"/>
            <a:ext cx="0" cy="20301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7" name="AutoShape 67"/>
          <p:cNvSpPr/>
          <p:nvPr/>
        </p:nvSpPr>
        <p:spPr>
          <a:xfrm flipH="1" flipV="1">
            <a:off x="12678712" y="3763346"/>
            <a:ext cx="0" cy="5739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8" name="AutoShape 68"/>
          <p:cNvSpPr/>
          <p:nvPr/>
        </p:nvSpPr>
        <p:spPr>
          <a:xfrm flipH="1" flipV="1">
            <a:off x="15431242" y="3717802"/>
            <a:ext cx="0" cy="5739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Box 69"/>
          <p:cNvSpPr txBox="1"/>
          <p:nvPr/>
        </p:nvSpPr>
        <p:spPr>
          <a:xfrm>
            <a:off x="2556475" y="2195014"/>
            <a:ext cx="3525358" cy="79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3"/>
              </a:lnSpc>
              <a:spcBef>
                <a:spcPct val="0"/>
              </a:spcBef>
            </a:pPr>
            <a:r>
              <a:rPr lang="en-US" sz="3107">
                <a:solidFill>
                  <a:srgbClr val="FF83BB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HIERARCHICAL INHERITANCE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029568" y="7436335"/>
            <a:ext cx="8251179" cy="40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2"/>
              </a:lnSpc>
              <a:spcBef>
                <a:spcPct val="0"/>
              </a:spcBef>
            </a:pPr>
            <a:r>
              <a:rPr lang="en-US" sz="2807">
                <a:solidFill>
                  <a:srgbClr val="FF83BB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CONTROLLER / MANAGER CLASSES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452224" y="5045893"/>
            <a:ext cx="2912510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PLAYER ENTITY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592644" y="5034289"/>
            <a:ext cx="2912510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BONUS ENEMY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4021376" y="4900737"/>
            <a:ext cx="2912510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COLLECTIBLE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567659" y="8708959"/>
            <a:ext cx="3236708" cy="92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SQLITE LEADERBOARD</a:t>
            </a:r>
          </a:p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INSERT / QUERY</a:t>
            </a:r>
          </a:p>
          <a:p>
            <a:pPr marL="0" lvl="0" indent="0" algn="ctr">
              <a:lnSpc>
                <a:spcPts val="2303"/>
              </a:lnSpc>
            </a:pPr>
            <a:endParaRPr lang="en-US" sz="2153">
              <a:solidFill>
                <a:srgbClr val="FF5DA6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5748569" y="6448323"/>
            <a:ext cx="2649595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PROJECTILE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998832" y="8681171"/>
            <a:ext cx="4380690" cy="92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ALL SCREEN RENDERING</a:t>
            </a:r>
          </a:p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HUD, MENUS, OVERLAYS</a:t>
            </a:r>
          </a:p>
          <a:p>
            <a:pPr marL="0" lvl="0" indent="0" algn="ctr">
              <a:lnSpc>
                <a:spcPts val="2303"/>
              </a:lnSpc>
            </a:pPr>
            <a:endParaRPr lang="en-US" sz="2153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3048000" y="8663557"/>
            <a:ext cx="4310784" cy="92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CENTRAL CONTROLLER</a:t>
            </a:r>
          </a:p>
          <a:p>
            <a:pPr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OWNS ALL ENTITIES</a:t>
            </a:r>
          </a:p>
          <a:p>
            <a:pPr marL="0" lvl="0" indent="0" algn="ctr">
              <a:lnSpc>
                <a:spcPts val="2303"/>
              </a:lnSpc>
            </a:pPr>
            <a:endParaRPr lang="en-US" sz="2153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1334865" y="4885243"/>
            <a:ext cx="2649595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BLOCK UNIT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683187" y="6450975"/>
            <a:ext cx="2649595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OBSTACLE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488052" y="5000504"/>
            <a:ext cx="2649595" cy="34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3"/>
              </a:lnSpc>
            </a:pPr>
            <a:r>
              <a:rPr lang="en-US" sz="2153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ENEMY ENTITY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3434747" y="1273217"/>
            <a:ext cx="6579147" cy="9254555"/>
          </a:xfrm>
          <a:custGeom>
            <a:avLst/>
            <a:gdLst/>
            <a:ahLst/>
            <a:cxnLst/>
            <a:rect l="l" t="t" r="r" b="b"/>
            <a:pathLst>
              <a:path w="6579147" h="9254555">
                <a:moveTo>
                  <a:pt x="0" y="0"/>
                </a:moveTo>
                <a:lnTo>
                  <a:pt x="6579147" y="0"/>
                </a:lnTo>
                <a:lnTo>
                  <a:pt x="6579147" y="9254554"/>
                </a:lnTo>
                <a:lnTo>
                  <a:pt x="0" y="9254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" name="Group 8"/>
          <p:cNvGrpSpPr/>
          <p:nvPr/>
        </p:nvGrpSpPr>
        <p:grpSpPr>
          <a:xfrm>
            <a:off x="891625" y="4034309"/>
            <a:ext cx="8836026" cy="5523580"/>
            <a:chOff x="0" y="0"/>
            <a:chExt cx="2327184" cy="14547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27184" cy="1454770"/>
            </a:xfrm>
            <a:custGeom>
              <a:avLst/>
              <a:gdLst/>
              <a:ahLst/>
              <a:cxnLst/>
              <a:rect l="l" t="t" r="r" b="b"/>
              <a:pathLst>
                <a:path w="2327184" h="1454770">
                  <a:moveTo>
                    <a:pt x="20152" y="0"/>
                  </a:moveTo>
                  <a:lnTo>
                    <a:pt x="2307032" y="0"/>
                  </a:lnTo>
                  <a:cubicBezTo>
                    <a:pt x="2318162" y="0"/>
                    <a:pt x="2327184" y="9022"/>
                    <a:pt x="2327184" y="20152"/>
                  </a:cubicBezTo>
                  <a:lnTo>
                    <a:pt x="2327184" y="1434618"/>
                  </a:lnTo>
                  <a:cubicBezTo>
                    <a:pt x="2327184" y="1445748"/>
                    <a:pt x="2318162" y="1454770"/>
                    <a:pt x="2307032" y="1454770"/>
                  </a:cubicBezTo>
                  <a:lnTo>
                    <a:pt x="20152" y="1454770"/>
                  </a:lnTo>
                  <a:cubicBezTo>
                    <a:pt x="9022" y="1454770"/>
                    <a:pt x="0" y="1445748"/>
                    <a:pt x="0" y="1434618"/>
                  </a:cubicBezTo>
                  <a:lnTo>
                    <a:pt x="0" y="20152"/>
                  </a:lnTo>
                  <a:cubicBezTo>
                    <a:pt x="0" y="9022"/>
                    <a:pt x="9022" y="0"/>
                    <a:pt x="20152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27184" cy="1492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06860" y="858040"/>
            <a:ext cx="7550149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ABSTRACTION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6822" y="4076870"/>
            <a:ext cx="8370224" cy="5286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520" lvl="1" indent="-297760" algn="just">
              <a:lnSpc>
                <a:spcPts val="4137"/>
              </a:lnSpc>
              <a:buFont typeface="Arial"/>
              <a:buChar char="•"/>
            </a:pPr>
            <a:r>
              <a:rPr lang="en-US" sz="2758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ENTITY DECLARES 3 PURE VIRTUAL METHODS: UPDATE(), DRAW(), GETBOUNDS()</a:t>
            </a:r>
          </a:p>
          <a:p>
            <a:pPr marL="595520" lvl="1" indent="-297760" algn="just">
              <a:lnSpc>
                <a:spcPts val="4137"/>
              </a:lnSpc>
              <a:buFont typeface="Arial"/>
              <a:buChar char="•"/>
            </a:pPr>
            <a:r>
              <a:rPr lang="en-US" sz="2758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NO ENTITY OBJECT CAN BE INSTANTIATED DIRECTLY</a:t>
            </a:r>
          </a:p>
          <a:p>
            <a:pPr marL="595520" lvl="1" indent="-297760" algn="just">
              <a:lnSpc>
                <a:spcPts val="4137"/>
              </a:lnSpc>
              <a:buFont typeface="Arial"/>
              <a:buChar char="•"/>
            </a:pPr>
            <a:r>
              <a:rPr lang="en-US" sz="2758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UIMANAGER ABSTRACTS ALL RENDERING AWAY FROM GAME CLASS</a:t>
            </a:r>
          </a:p>
          <a:p>
            <a:pPr marL="595520" lvl="1" indent="-297760" algn="just">
              <a:lnSpc>
                <a:spcPts val="4137"/>
              </a:lnSpc>
              <a:buFont typeface="Arial"/>
              <a:buChar char="•"/>
            </a:pPr>
            <a:r>
              <a:rPr lang="en-US" sz="2758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SCOREMANAGER ABSTRACTS ALL SQLITE OPERATIONS — GAME JUST CALLS SAVESCORE()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0451" y="763905"/>
            <a:ext cx="7447041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FFCA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ABSTRACTION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07457" y="4034309"/>
            <a:ext cx="7938926" cy="5523580"/>
            <a:chOff x="0" y="0"/>
            <a:chExt cx="2090911" cy="14547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0911" cy="1454770"/>
            </a:xfrm>
            <a:custGeom>
              <a:avLst/>
              <a:gdLst/>
              <a:ahLst/>
              <a:cxnLst/>
              <a:rect l="l" t="t" r="r" b="b"/>
              <a:pathLst>
                <a:path w="2090911" h="1454770">
                  <a:moveTo>
                    <a:pt x="22429" y="0"/>
                  </a:moveTo>
                  <a:lnTo>
                    <a:pt x="2068481" y="0"/>
                  </a:lnTo>
                  <a:cubicBezTo>
                    <a:pt x="2074430" y="0"/>
                    <a:pt x="2080135" y="2363"/>
                    <a:pt x="2084341" y="6569"/>
                  </a:cubicBezTo>
                  <a:cubicBezTo>
                    <a:pt x="2088548" y="10776"/>
                    <a:pt x="2090911" y="16481"/>
                    <a:pt x="2090911" y="22429"/>
                  </a:cubicBezTo>
                  <a:lnTo>
                    <a:pt x="2090911" y="1432341"/>
                  </a:lnTo>
                  <a:cubicBezTo>
                    <a:pt x="2090911" y="1438289"/>
                    <a:pt x="2088548" y="1443994"/>
                    <a:pt x="2084341" y="1448201"/>
                  </a:cubicBezTo>
                  <a:cubicBezTo>
                    <a:pt x="2080135" y="1452407"/>
                    <a:pt x="2074430" y="1454770"/>
                    <a:pt x="2068481" y="1454770"/>
                  </a:cubicBezTo>
                  <a:lnTo>
                    <a:pt x="22429" y="1454770"/>
                  </a:lnTo>
                  <a:cubicBezTo>
                    <a:pt x="16481" y="1454770"/>
                    <a:pt x="10776" y="1452407"/>
                    <a:pt x="6569" y="1448201"/>
                  </a:cubicBezTo>
                  <a:cubicBezTo>
                    <a:pt x="2363" y="1443994"/>
                    <a:pt x="0" y="1438289"/>
                    <a:pt x="0" y="1432341"/>
                  </a:cubicBezTo>
                  <a:lnTo>
                    <a:pt x="0" y="22429"/>
                  </a:lnTo>
                  <a:cubicBezTo>
                    <a:pt x="0" y="16481"/>
                    <a:pt x="2363" y="10776"/>
                    <a:pt x="6569" y="6569"/>
                  </a:cubicBezTo>
                  <a:cubicBezTo>
                    <a:pt x="10776" y="2363"/>
                    <a:pt x="16481" y="0"/>
                    <a:pt x="2242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90911" cy="1492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141892"/>
            <a:ext cx="11063405" cy="165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999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HIDING IMPLEMENTATION DETAILS BEHIND A CLEAN INTERFACE — THE ENTITY BASE CLASS DEFINES WHAT EVERY GAME OBJECT MUST DO, NOT HOW.</a:t>
            </a:r>
          </a:p>
          <a:p>
            <a:pPr algn="l">
              <a:lnSpc>
                <a:spcPts val="3159"/>
              </a:lnSpc>
            </a:pPr>
            <a:endParaRPr lang="en-US" sz="3999">
              <a:solidFill>
                <a:srgbClr val="FF5DA6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6822" y="2141892"/>
            <a:ext cx="11046153" cy="165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999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HIDING IMPLEMENTATION DETAILS BEHIND A CLEAN INTERFACE — THE ENTITY BASE CLASS DEFINES WHAT EVERY GAME OBJECT MUST DO, NOT HOW.</a:t>
            </a:r>
          </a:p>
          <a:p>
            <a:pPr algn="l">
              <a:lnSpc>
                <a:spcPts val="3159"/>
              </a:lnSpc>
            </a:pPr>
            <a:endParaRPr lang="en-US" sz="3999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034538" y="5619597"/>
            <a:ext cx="8729010" cy="285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CLASS ENTITY {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PUBLIC: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VIRTUAL VOID UPDATE() = 0;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VIRTUAL VOID DRAW() = 0;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VIRTUAL RECTANGLE GETBOUNDS() = 0;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VIRTUAL ~ENTITY() = DEFAULT;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ENTITY() : POSITION({0, 0}) {}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PROTECTED: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VECTOR2 POSITION;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};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86938" y="4577408"/>
            <a:ext cx="7659445" cy="56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ENTITY.HPP — ABSTRACT BASE CLASS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3434747" y="1273217"/>
            <a:ext cx="6579147" cy="9254555"/>
          </a:xfrm>
          <a:custGeom>
            <a:avLst/>
            <a:gdLst/>
            <a:ahLst/>
            <a:cxnLst/>
            <a:rect l="l" t="t" r="r" b="b"/>
            <a:pathLst>
              <a:path w="6579147" h="9254555">
                <a:moveTo>
                  <a:pt x="0" y="0"/>
                </a:moveTo>
                <a:lnTo>
                  <a:pt x="6579147" y="0"/>
                </a:lnTo>
                <a:lnTo>
                  <a:pt x="6579147" y="9254554"/>
                </a:lnTo>
                <a:lnTo>
                  <a:pt x="0" y="9254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" name="Group 8"/>
          <p:cNvGrpSpPr/>
          <p:nvPr/>
        </p:nvGrpSpPr>
        <p:grpSpPr>
          <a:xfrm>
            <a:off x="891625" y="4034309"/>
            <a:ext cx="5471901" cy="5523580"/>
            <a:chOff x="0" y="0"/>
            <a:chExt cx="1441159" cy="14547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159" cy="1454770"/>
            </a:xfrm>
            <a:custGeom>
              <a:avLst/>
              <a:gdLst/>
              <a:ahLst/>
              <a:cxnLst/>
              <a:rect l="l" t="t" r="r" b="b"/>
              <a:pathLst>
                <a:path w="1441159" h="1454770">
                  <a:moveTo>
                    <a:pt x="32542" y="0"/>
                  </a:moveTo>
                  <a:lnTo>
                    <a:pt x="1408618" y="0"/>
                  </a:lnTo>
                  <a:cubicBezTo>
                    <a:pt x="1426590" y="0"/>
                    <a:pt x="1441159" y="14569"/>
                    <a:pt x="1441159" y="32542"/>
                  </a:cubicBezTo>
                  <a:lnTo>
                    <a:pt x="1441159" y="1422228"/>
                  </a:lnTo>
                  <a:cubicBezTo>
                    <a:pt x="1441159" y="1440201"/>
                    <a:pt x="1426590" y="1454770"/>
                    <a:pt x="1408618" y="1454770"/>
                  </a:cubicBezTo>
                  <a:lnTo>
                    <a:pt x="32542" y="1454770"/>
                  </a:lnTo>
                  <a:cubicBezTo>
                    <a:pt x="14569" y="1454770"/>
                    <a:pt x="0" y="1440201"/>
                    <a:pt x="0" y="1422228"/>
                  </a:cubicBezTo>
                  <a:lnTo>
                    <a:pt x="0" y="32542"/>
                  </a:lnTo>
                  <a:cubicBezTo>
                    <a:pt x="0" y="14569"/>
                    <a:pt x="14569" y="0"/>
                    <a:pt x="32542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1159" cy="1492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06860" y="858040"/>
            <a:ext cx="8600598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ENCAPSULATION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4843" y="4076870"/>
            <a:ext cx="5468682" cy="571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7"/>
              </a:lnSpc>
            </a:pPr>
            <a:r>
              <a:rPr lang="en-US" sz="2758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SUBMARINE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955" y="817922"/>
            <a:ext cx="9172233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FFCA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ENCAPSULATION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26080" y="4034309"/>
            <a:ext cx="5151978" cy="5523580"/>
            <a:chOff x="0" y="0"/>
            <a:chExt cx="1356900" cy="14547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56900" cy="1454770"/>
            </a:xfrm>
            <a:custGeom>
              <a:avLst/>
              <a:gdLst/>
              <a:ahLst/>
              <a:cxnLst/>
              <a:rect l="l" t="t" r="r" b="b"/>
              <a:pathLst>
                <a:path w="1356900" h="1454770">
                  <a:moveTo>
                    <a:pt x="34562" y="0"/>
                  </a:moveTo>
                  <a:lnTo>
                    <a:pt x="1322337" y="0"/>
                  </a:lnTo>
                  <a:cubicBezTo>
                    <a:pt x="1341426" y="0"/>
                    <a:pt x="1356900" y="15474"/>
                    <a:pt x="1356900" y="34562"/>
                  </a:cubicBezTo>
                  <a:lnTo>
                    <a:pt x="1356900" y="1420208"/>
                  </a:lnTo>
                  <a:cubicBezTo>
                    <a:pt x="1356900" y="1429374"/>
                    <a:pt x="1353258" y="1438165"/>
                    <a:pt x="1346777" y="1444647"/>
                  </a:cubicBezTo>
                  <a:cubicBezTo>
                    <a:pt x="1340295" y="1451129"/>
                    <a:pt x="1331504" y="1454770"/>
                    <a:pt x="1322337" y="1454770"/>
                  </a:cubicBezTo>
                  <a:lnTo>
                    <a:pt x="34562" y="1454770"/>
                  </a:lnTo>
                  <a:cubicBezTo>
                    <a:pt x="15474" y="1454770"/>
                    <a:pt x="0" y="1439296"/>
                    <a:pt x="0" y="1420208"/>
                  </a:cubicBezTo>
                  <a:lnTo>
                    <a:pt x="0" y="34562"/>
                  </a:lnTo>
                  <a:cubicBezTo>
                    <a:pt x="0" y="15474"/>
                    <a:pt x="15474" y="0"/>
                    <a:pt x="34562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56900" cy="1492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49769" y="2210900"/>
            <a:ext cx="10028289" cy="165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999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EACH CLASS HIDES ITS INTERNAL STATE BEHIND PRIVATE MEMBERS. ONLY CONTROLLED PUBLIC METHODS EXPOSE BEHAVIOUR.</a:t>
            </a:r>
          </a:p>
          <a:p>
            <a:pPr algn="l">
              <a:lnSpc>
                <a:spcPts val="3159"/>
              </a:lnSpc>
            </a:pPr>
            <a:endParaRPr lang="en-US" sz="3999">
              <a:solidFill>
                <a:srgbClr val="FF5DA6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35421" y="2210900"/>
            <a:ext cx="11046153" cy="165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999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EACH CLASS HIDES ITS INTERNAL STATE BEHIND PRIVATE MEMBERS. ONLY CONTROLLED PUBLIC METHODS EXPOSE BEHAVIOUR.</a:t>
            </a:r>
          </a:p>
          <a:p>
            <a:pPr algn="l">
              <a:lnSpc>
                <a:spcPts val="3159"/>
              </a:lnSpc>
            </a:pPr>
            <a:endParaRPr lang="en-US" sz="3999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29384" y="6515112"/>
            <a:ext cx="4829231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PUBLIC: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57538" y="4915841"/>
            <a:ext cx="4488433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PRIVATE: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839983" y="4034309"/>
            <a:ext cx="5471901" cy="5523580"/>
            <a:chOff x="0" y="0"/>
            <a:chExt cx="1441159" cy="14547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41159" cy="1454770"/>
            </a:xfrm>
            <a:custGeom>
              <a:avLst/>
              <a:gdLst/>
              <a:ahLst/>
              <a:cxnLst/>
              <a:rect l="l" t="t" r="r" b="b"/>
              <a:pathLst>
                <a:path w="1441159" h="1454770">
                  <a:moveTo>
                    <a:pt x="32542" y="0"/>
                  </a:moveTo>
                  <a:lnTo>
                    <a:pt x="1408618" y="0"/>
                  </a:lnTo>
                  <a:cubicBezTo>
                    <a:pt x="1426590" y="0"/>
                    <a:pt x="1441159" y="14569"/>
                    <a:pt x="1441159" y="32542"/>
                  </a:cubicBezTo>
                  <a:lnTo>
                    <a:pt x="1441159" y="1422228"/>
                  </a:lnTo>
                  <a:cubicBezTo>
                    <a:pt x="1441159" y="1440201"/>
                    <a:pt x="1426590" y="1454770"/>
                    <a:pt x="1408618" y="1454770"/>
                  </a:cubicBezTo>
                  <a:lnTo>
                    <a:pt x="32542" y="1454770"/>
                  </a:lnTo>
                  <a:cubicBezTo>
                    <a:pt x="14569" y="1454770"/>
                    <a:pt x="0" y="1440201"/>
                    <a:pt x="0" y="1422228"/>
                  </a:cubicBezTo>
                  <a:lnTo>
                    <a:pt x="0" y="32542"/>
                  </a:lnTo>
                  <a:cubicBezTo>
                    <a:pt x="0" y="14569"/>
                    <a:pt x="14569" y="0"/>
                    <a:pt x="32542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441159" cy="1492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4732512"/>
            <a:ext cx="4488433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PRIVATE: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99784" y="5396570"/>
            <a:ext cx="4488433" cy="113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- DB: SQLITE3*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- FILENAME: STRING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- HIGHSCORE: INT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5253695"/>
            <a:ext cx="5334825" cy="113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- IMAGE: TEXTURE2D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- LASTFIRETIME: DOUBLE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- TORPEDOSOUND: SOUND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FFF3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28700" y="6477012"/>
            <a:ext cx="4488433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PUBLIC: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772" y="7100254"/>
            <a:ext cx="5334825" cy="170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FIRETORPEDO()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MOVELEFT() / MOVERIGHT()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RESET()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DOSOUND: SOUND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FFF3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843202" y="4095220"/>
            <a:ext cx="5468682" cy="571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7"/>
              </a:lnSpc>
            </a:pPr>
            <a:r>
              <a:rPr lang="en-US" sz="2758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CORALBUNKER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977059" y="5009304"/>
            <a:ext cx="4488433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PRIVATE: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77059" y="5530486"/>
            <a:ext cx="5334825" cy="113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- BLOCKS: VECTOR&lt;CORALBLOCK&gt;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- POSITION: VECTOR2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FFF3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977059" y="6753803"/>
            <a:ext cx="4488433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PUBLIC: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10130" y="7377045"/>
            <a:ext cx="5334825" cy="113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DRAW()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GETBOUNDS()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GETPOSITION()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FFF3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441449" y="4144270"/>
            <a:ext cx="5468682" cy="571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7"/>
              </a:lnSpc>
            </a:pPr>
            <a:r>
              <a:rPr lang="en-US" sz="2758">
                <a:solidFill>
                  <a:srgbClr val="FF5DA6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SCOREMANAGER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57853" y="7205029"/>
            <a:ext cx="4488433" cy="1423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SAVESCORE(INT)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SAVETODB(NAME, SCORE)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+ GETTOPSCORES()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3434747" y="1273217"/>
            <a:ext cx="6579147" cy="9254555"/>
          </a:xfrm>
          <a:custGeom>
            <a:avLst/>
            <a:gdLst/>
            <a:ahLst/>
            <a:cxnLst/>
            <a:rect l="l" t="t" r="r" b="b"/>
            <a:pathLst>
              <a:path w="6579147" h="9254555">
                <a:moveTo>
                  <a:pt x="0" y="0"/>
                </a:moveTo>
                <a:lnTo>
                  <a:pt x="6579147" y="0"/>
                </a:lnTo>
                <a:lnTo>
                  <a:pt x="6579147" y="9254554"/>
                </a:lnTo>
                <a:lnTo>
                  <a:pt x="0" y="9254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" name="Group 8"/>
          <p:cNvGrpSpPr/>
          <p:nvPr/>
        </p:nvGrpSpPr>
        <p:grpSpPr>
          <a:xfrm>
            <a:off x="960162" y="3525378"/>
            <a:ext cx="9033555" cy="3954394"/>
            <a:chOff x="0" y="0"/>
            <a:chExt cx="2379208" cy="1041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9208" cy="1041486"/>
            </a:xfrm>
            <a:custGeom>
              <a:avLst/>
              <a:gdLst/>
              <a:ahLst/>
              <a:cxnLst/>
              <a:rect l="l" t="t" r="r" b="b"/>
              <a:pathLst>
                <a:path w="2379208" h="1041486">
                  <a:moveTo>
                    <a:pt x="19711" y="0"/>
                  </a:moveTo>
                  <a:lnTo>
                    <a:pt x="2359496" y="0"/>
                  </a:lnTo>
                  <a:cubicBezTo>
                    <a:pt x="2370383" y="0"/>
                    <a:pt x="2379208" y="8825"/>
                    <a:pt x="2379208" y="19711"/>
                  </a:cubicBezTo>
                  <a:lnTo>
                    <a:pt x="2379208" y="1021775"/>
                  </a:lnTo>
                  <a:cubicBezTo>
                    <a:pt x="2379208" y="1032661"/>
                    <a:pt x="2370383" y="1041486"/>
                    <a:pt x="2359496" y="1041486"/>
                  </a:cubicBezTo>
                  <a:lnTo>
                    <a:pt x="19711" y="1041486"/>
                  </a:lnTo>
                  <a:cubicBezTo>
                    <a:pt x="8825" y="1041486"/>
                    <a:pt x="0" y="1032661"/>
                    <a:pt x="0" y="1021775"/>
                  </a:cubicBezTo>
                  <a:lnTo>
                    <a:pt x="0" y="19711"/>
                  </a:lnTo>
                  <a:cubicBezTo>
                    <a:pt x="0" y="8825"/>
                    <a:pt x="8825" y="0"/>
                    <a:pt x="19711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79208" cy="1079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06860" y="858040"/>
            <a:ext cx="7550149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INHERITANCE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6822" y="3579477"/>
            <a:ext cx="8854218" cy="370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SHARED STATE, POSITION MEMBER AVAILABLE TO ALL 7    ENTITY TYPES WITHOUT RE-DECLARING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NO CODE DUPLICATION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UNIFORM GAME LOOP, GAME CAN ITERATE ANY ENTITY COLLECTION 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VIRTUAL DESTRUCTOR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0451" y="763905"/>
            <a:ext cx="7447041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FFCA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INHERITANCE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131732" y="3242216"/>
            <a:ext cx="7938926" cy="5523580"/>
            <a:chOff x="0" y="0"/>
            <a:chExt cx="2090911" cy="14547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0911" cy="1454770"/>
            </a:xfrm>
            <a:custGeom>
              <a:avLst/>
              <a:gdLst/>
              <a:ahLst/>
              <a:cxnLst/>
              <a:rect l="l" t="t" r="r" b="b"/>
              <a:pathLst>
                <a:path w="2090911" h="1454770">
                  <a:moveTo>
                    <a:pt x="22429" y="0"/>
                  </a:moveTo>
                  <a:lnTo>
                    <a:pt x="2068481" y="0"/>
                  </a:lnTo>
                  <a:cubicBezTo>
                    <a:pt x="2074430" y="0"/>
                    <a:pt x="2080135" y="2363"/>
                    <a:pt x="2084341" y="6569"/>
                  </a:cubicBezTo>
                  <a:cubicBezTo>
                    <a:pt x="2088548" y="10776"/>
                    <a:pt x="2090911" y="16481"/>
                    <a:pt x="2090911" y="22429"/>
                  </a:cubicBezTo>
                  <a:lnTo>
                    <a:pt x="2090911" y="1432341"/>
                  </a:lnTo>
                  <a:cubicBezTo>
                    <a:pt x="2090911" y="1438289"/>
                    <a:pt x="2088548" y="1443994"/>
                    <a:pt x="2084341" y="1448201"/>
                  </a:cubicBezTo>
                  <a:cubicBezTo>
                    <a:pt x="2080135" y="1452407"/>
                    <a:pt x="2074430" y="1454770"/>
                    <a:pt x="2068481" y="1454770"/>
                  </a:cubicBezTo>
                  <a:lnTo>
                    <a:pt x="22429" y="1454770"/>
                  </a:lnTo>
                  <a:cubicBezTo>
                    <a:pt x="16481" y="1454770"/>
                    <a:pt x="10776" y="1452407"/>
                    <a:pt x="6569" y="1448201"/>
                  </a:cubicBezTo>
                  <a:cubicBezTo>
                    <a:pt x="2363" y="1443994"/>
                    <a:pt x="0" y="1438289"/>
                    <a:pt x="0" y="1432341"/>
                  </a:cubicBezTo>
                  <a:lnTo>
                    <a:pt x="0" y="22429"/>
                  </a:lnTo>
                  <a:cubicBezTo>
                    <a:pt x="0" y="16481"/>
                    <a:pt x="2363" y="10776"/>
                    <a:pt x="6569" y="6569"/>
                  </a:cubicBezTo>
                  <a:cubicBezTo>
                    <a:pt x="10776" y="2363"/>
                    <a:pt x="16481" y="0"/>
                    <a:pt x="2242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90911" cy="1492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141892"/>
            <a:ext cx="11063405" cy="165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999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ALL 7 ENTITY CLASSES INHERIT FROM ENTITY — SHARING POSITION AND COMMITTING TO THE COMMON INTERFACE, ELIMINATING CODE DUPLICATION.</a:t>
            </a:r>
          </a:p>
          <a:p>
            <a:pPr algn="l">
              <a:lnSpc>
                <a:spcPts val="3159"/>
              </a:lnSpc>
            </a:pPr>
            <a:endParaRPr lang="en-US" sz="3999">
              <a:solidFill>
                <a:srgbClr val="FF5DA6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6822" y="2141892"/>
            <a:ext cx="11046153" cy="165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999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ALL 7 ENTITY CLASSES INHERIT FROM ENTITY — SHARING POSITION AND COMMITTING TO THE COMMON INTERFACE, ELIMINATING CODE DUPLICATION.</a:t>
            </a:r>
          </a:p>
          <a:p>
            <a:pPr algn="l">
              <a:lnSpc>
                <a:spcPts val="3159"/>
              </a:lnSpc>
            </a:pPr>
            <a:endParaRPr lang="en-US" sz="3999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58813" y="4827503"/>
            <a:ext cx="8729010" cy="3709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// SUBMARINE INHERITS ENTITY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CLASS SUBMARINE : PUBLIC ENTITY {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PUBLIC: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VOID UPDATE() OVERRIDE;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VOID DRAW() OVERRIDE;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RECTANGLE GETBOUNDS() OVERRIDE;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VOID FIRETORPEDO();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VOID RESET();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PRIVATE: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TEXTURE2D IMAGE;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SOUND TORPEDOSOUND;</a:t>
            </a:r>
          </a:p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};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411213" y="3785314"/>
            <a:ext cx="7659445" cy="56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INHERITANCE IN PRACTICE: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960162" y="7917720"/>
            <a:ext cx="9033555" cy="1478596"/>
            <a:chOff x="0" y="0"/>
            <a:chExt cx="2379208" cy="3894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79208" cy="389424"/>
            </a:xfrm>
            <a:custGeom>
              <a:avLst/>
              <a:gdLst/>
              <a:ahLst/>
              <a:cxnLst/>
              <a:rect l="l" t="t" r="r" b="b"/>
              <a:pathLst>
                <a:path w="2379208" h="389424">
                  <a:moveTo>
                    <a:pt x="19711" y="0"/>
                  </a:moveTo>
                  <a:lnTo>
                    <a:pt x="2359496" y="0"/>
                  </a:lnTo>
                  <a:cubicBezTo>
                    <a:pt x="2370383" y="0"/>
                    <a:pt x="2379208" y="8825"/>
                    <a:pt x="2379208" y="19711"/>
                  </a:cubicBezTo>
                  <a:lnTo>
                    <a:pt x="2379208" y="369713"/>
                  </a:lnTo>
                  <a:cubicBezTo>
                    <a:pt x="2379208" y="380599"/>
                    <a:pt x="2370383" y="389424"/>
                    <a:pt x="2359496" y="389424"/>
                  </a:cubicBezTo>
                  <a:lnTo>
                    <a:pt x="19711" y="389424"/>
                  </a:lnTo>
                  <a:cubicBezTo>
                    <a:pt x="8825" y="389424"/>
                    <a:pt x="0" y="380599"/>
                    <a:pt x="0" y="369713"/>
                  </a:cubicBezTo>
                  <a:lnTo>
                    <a:pt x="0" y="19711"/>
                  </a:lnTo>
                  <a:cubicBezTo>
                    <a:pt x="0" y="8825"/>
                    <a:pt x="8825" y="0"/>
                    <a:pt x="19711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379208" cy="427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5770" y="7930249"/>
            <a:ext cx="8722340" cy="178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 i="1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7 ENTITY SUBCLASSES, ALL DERIVED FROM ONE ABSTRACT BASE — CLEAN, EXTENSIBLE, AND MAINTAINABLE</a:t>
            </a:r>
          </a:p>
          <a:p>
            <a:pPr algn="just">
              <a:lnSpc>
                <a:spcPts val="3450"/>
              </a:lnSpc>
            </a:pPr>
            <a:endParaRPr lang="en-US" sz="2300" i="1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3434747" y="1273217"/>
            <a:ext cx="6579147" cy="9254555"/>
          </a:xfrm>
          <a:custGeom>
            <a:avLst/>
            <a:gdLst/>
            <a:ahLst/>
            <a:cxnLst/>
            <a:rect l="l" t="t" r="r" b="b"/>
            <a:pathLst>
              <a:path w="6579147" h="9254555">
                <a:moveTo>
                  <a:pt x="0" y="0"/>
                </a:moveTo>
                <a:lnTo>
                  <a:pt x="6579147" y="0"/>
                </a:lnTo>
                <a:lnTo>
                  <a:pt x="6579147" y="9254554"/>
                </a:lnTo>
                <a:lnTo>
                  <a:pt x="0" y="9254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" name="Group 8"/>
          <p:cNvGrpSpPr/>
          <p:nvPr/>
        </p:nvGrpSpPr>
        <p:grpSpPr>
          <a:xfrm>
            <a:off x="960162" y="3525378"/>
            <a:ext cx="9033555" cy="4057905"/>
            <a:chOff x="0" y="0"/>
            <a:chExt cx="2379208" cy="10687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9208" cy="1068749"/>
            </a:xfrm>
            <a:custGeom>
              <a:avLst/>
              <a:gdLst/>
              <a:ahLst/>
              <a:cxnLst/>
              <a:rect l="l" t="t" r="r" b="b"/>
              <a:pathLst>
                <a:path w="2379208" h="1068749">
                  <a:moveTo>
                    <a:pt x="19711" y="0"/>
                  </a:moveTo>
                  <a:lnTo>
                    <a:pt x="2359496" y="0"/>
                  </a:lnTo>
                  <a:cubicBezTo>
                    <a:pt x="2370383" y="0"/>
                    <a:pt x="2379208" y="8825"/>
                    <a:pt x="2379208" y="19711"/>
                  </a:cubicBezTo>
                  <a:lnTo>
                    <a:pt x="2379208" y="1049037"/>
                  </a:lnTo>
                  <a:cubicBezTo>
                    <a:pt x="2379208" y="1059924"/>
                    <a:pt x="2370383" y="1068749"/>
                    <a:pt x="2359496" y="1068749"/>
                  </a:cubicBezTo>
                  <a:lnTo>
                    <a:pt x="19711" y="1068749"/>
                  </a:lnTo>
                  <a:cubicBezTo>
                    <a:pt x="8825" y="1068749"/>
                    <a:pt x="0" y="1059924"/>
                    <a:pt x="0" y="1049037"/>
                  </a:cubicBezTo>
                  <a:lnTo>
                    <a:pt x="0" y="19711"/>
                  </a:lnTo>
                  <a:cubicBezTo>
                    <a:pt x="0" y="8825"/>
                    <a:pt x="8825" y="0"/>
                    <a:pt x="19711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79208" cy="1106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06860" y="858040"/>
            <a:ext cx="9430609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POLYMORPHISM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0451" y="763905"/>
            <a:ext cx="9776051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FFCA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POLYMORPHISM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131732" y="3525378"/>
            <a:ext cx="7938926" cy="3954394"/>
            <a:chOff x="0" y="0"/>
            <a:chExt cx="2090911" cy="10414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90911" cy="1041486"/>
            </a:xfrm>
            <a:custGeom>
              <a:avLst/>
              <a:gdLst/>
              <a:ahLst/>
              <a:cxnLst/>
              <a:rect l="l" t="t" r="r" b="b"/>
              <a:pathLst>
                <a:path w="2090911" h="1041486">
                  <a:moveTo>
                    <a:pt x="22429" y="0"/>
                  </a:moveTo>
                  <a:lnTo>
                    <a:pt x="2068481" y="0"/>
                  </a:lnTo>
                  <a:cubicBezTo>
                    <a:pt x="2074430" y="0"/>
                    <a:pt x="2080135" y="2363"/>
                    <a:pt x="2084341" y="6569"/>
                  </a:cubicBezTo>
                  <a:cubicBezTo>
                    <a:pt x="2088548" y="10776"/>
                    <a:pt x="2090911" y="16481"/>
                    <a:pt x="2090911" y="22429"/>
                  </a:cubicBezTo>
                  <a:lnTo>
                    <a:pt x="2090911" y="1019057"/>
                  </a:lnTo>
                  <a:cubicBezTo>
                    <a:pt x="2090911" y="1025006"/>
                    <a:pt x="2088548" y="1030711"/>
                    <a:pt x="2084341" y="1034917"/>
                  </a:cubicBezTo>
                  <a:cubicBezTo>
                    <a:pt x="2080135" y="1039123"/>
                    <a:pt x="2074430" y="1041486"/>
                    <a:pt x="2068481" y="1041486"/>
                  </a:cubicBezTo>
                  <a:lnTo>
                    <a:pt x="22429" y="1041486"/>
                  </a:lnTo>
                  <a:cubicBezTo>
                    <a:pt x="16481" y="1041486"/>
                    <a:pt x="10776" y="1039123"/>
                    <a:pt x="6569" y="1034917"/>
                  </a:cubicBezTo>
                  <a:cubicBezTo>
                    <a:pt x="2363" y="1030711"/>
                    <a:pt x="0" y="1025006"/>
                    <a:pt x="0" y="1019057"/>
                  </a:cubicBezTo>
                  <a:lnTo>
                    <a:pt x="0" y="22429"/>
                  </a:lnTo>
                  <a:cubicBezTo>
                    <a:pt x="0" y="16481"/>
                    <a:pt x="2363" y="10776"/>
                    <a:pt x="6569" y="6569"/>
                  </a:cubicBezTo>
                  <a:cubicBezTo>
                    <a:pt x="10776" y="2363"/>
                    <a:pt x="16481" y="0"/>
                    <a:pt x="2242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90911" cy="1079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141892"/>
            <a:ext cx="11063405" cy="165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999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VIRTUAL DISPATCH LETS GAME::DRAW() CALL THE RIGHT DRAW() FOR EACH OBJECT TYPE — NO SWITCH-CASE, NO SPECIAL-CASING.</a:t>
            </a:r>
          </a:p>
          <a:p>
            <a:pPr algn="l">
              <a:lnSpc>
                <a:spcPts val="3159"/>
              </a:lnSpc>
            </a:pPr>
            <a:endParaRPr lang="en-US" sz="3999">
              <a:solidFill>
                <a:srgbClr val="FF5DA6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6822" y="2141892"/>
            <a:ext cx="11046153" cy="165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999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VIRTUAL DISPATCH LETS GAME::DRAW() CALL THE RIGHT DRAW() FOR EACH OBJECT TYPE — NO SWITCH-CASE, NO SPECIAL-CASING.</a:t>
            </a:r>
          </a:p>
          <a:p>
            <a:pPr algn="l">
              <a:lnSpc>
                <a:spcPts val="3159"/>
              </a:lnSpc>
            </a:pPr>
            <a:endParaRPr lang="en-US" sz="3999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71473" y="4619955"/>
            <a:ext cx="9491121" cy="2859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60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FOR (AUTO&amp; CREATURE : CREATURES)</a:t>
            </a:r>
          </a:p>
          <a:p>
            <a:pPr algn="l">
              <a:lnSpc>
                <a:spcPts val="2096"/>
              </a:lnSpc>
            </a:pPr>
            <a:r>
              <a:rPr lang="en-US" sz="160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CREATURE.DRAW();//SEACREATURE::DRAW</a:t>
            </a:r>
          </a:p>
          <a:p>
            <a:pPr algn="l">
              <a:lnSpc>
                <a:spcPts val="2096"/>
              </a:lnSpc>
            </a:pPr>
            <a:endParaRPr lang="en-US" sz="160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algn="l">
              <a:lnSpc>
                <a:spcPts val="2096"/>
              </a:lnSpc>
            </a:pPr>
            <a:r>
              <a:rPr lang="en-US" sz="160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FOR (AUTO&amp; TORPEDO : ENEMYTORPEDOES)</a:t>
            </a:r>
          </a:p>
          <a:p>
            <a:pPr algn="l">
              <a:lnSpc>
                <a:spcPts val="2096"/>
              </a:lnSpc>
            </a:pPr>
            <a:r>
              <a:rPr lang="en-US" sz="160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TORPEDO.DRAW(); //TORPEDO::DRAW</a:t>
            </a:r>
          </a:p>
          <a:p>
            <a:pPr algn="l">
              <a:lnSpc>
                <a:spcPts val="2096"/>
              </a:lnSpc>
            </a:pPr>
            <a:endParaRPr lang="en-US" sz="160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algn="l">
              <a:lnSpc>
                <a:spcPts val="2096"/>
              </a:lnSpc>
            </a:pPr>
            <a:r>
              <a:rPr lang="en-US" sz="160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FOR (AUTO&amp; PU : POWERUPS)</a:t>
            </a:r>
          </a:p>
          <a:p>
            <a:pPr algn="l">
              <a:lnSpc>
                <a:spcPts val="2096"/>
              </a:lnSpc>
            </a:pPr>
            <a:r>
              <a:rPr lang="en-US" sz="160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 PU.DRAW();    //POWERUP::DRAW</a:t>
            </a:r>
          </a:p>
          <a:p>
            <a:pPr algn="l">
              <a:lnSpc>
                <a:spcPts val="2096"/>
              </a:lnSpc>
            </a:pPr>
            <a:endParaRPr lang="en-US" sz="160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algn="l">
              <a:lnSpc>
                <a:spcPts val="2096"/>
              </a:lnSpc>
            </a:pPr>
            <a:r>
              <a:rPr lang="en-US" sz="160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BLUEWHALE.DRAW();//BLUEWHALE::DRAW</a:t>
            </a:r>
          </a:p>
          <a:p>
            <a:pPr algn="l">
              <a:lnSpc>
                <a:spcPts val="2096"/>
              </a:lnSpc>
            </a:pPr>
            <a:endParaRPr lang="en-US" sz="160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71473" y="3703302"/>
            <a:ext cx="7659445" cy="85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GAME::DRAW() — RUNTIME POLYMORPHISM: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60162" y="7714096"/>
            <a:ext cx="17110496" cy="2355044"/>
            <a:chOff x="0" y="0"/>
            <a:chExt cx="4506468" cy="6202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06468" cy="620259"/>
            </a:xfrm>
            <a:custGeom>
              <a:avLst/>
              <a:gdLst/>
              <a:ahLst/>
              <a:cxnLst/>
              <a:rect l="l" t="t" r="r" b="b"/>
              <a:pathLst>
                <a:path w="4506468" h="620259">
                  <a:moveTo>
                    <a:pt x="10407" y="0"/>
                  </a:moveTo>
                  <a:lnTo>
                    <a:pt x="4496061" y="0"/>
                  </a:lnTo>
                  <a:cubicBezTo>
                    <a:pt x="4498821" y="0"/>
                    <a:pt x="4501468" y="1096"/>
                    <a:pt x="4503420" y="3048"/>
                  </a:cubicBezTo>
                  <a:cubicBezTo>
                    <a:pt x="4505372" y="5000"/>
                    <a:pt x="4506468" y="7647"/>
                    <a:pt x="4506468" y="10407"/>
                  </a:cubicBezTo>
                  <a:lnTo>
                    <a:pt x="4506468" y="609852"/>
                  </a:lnTo>
                  <a:cubicBezTo>
                    <a:pt x="4506468" y="615599"/>
                    <a:pt x="4501809" y="620259"/>
                    <a:pt x="4496061" y="620259"/>
                  </a:cubicBezTo>
                  <a:lnTo>
                    <a:pt x="10407" y="620259"/>
                  </a:lnTo>
                  <a:cubicBezTo>
                    <a:pt x="7647" y="620259"/>
                    <a:pt x="5000" y="619162"/>
                    <a:pt x="3048" y="617210"/>
                  </a:cubicBezTo>
                  <a:cubicBezTo>
                    <a:pt x="1096" y="615259"/>
                    <a:pt x="0" y="612612"/>
                    <a:pt x="0" y="609852"/>
                  </a:cubicBezTo>
                  <a:lnTo>
                    <a:pt x="0" y="10407"/>
                  </a:lnTo>
                  <a:cubicBezTo>
                    <a:pt x="0" y="7647"/>
                    <a:pt x="1096" y="5000"/>
                    <a:pt x="3048" y="3048"/>
                  </a:cubicBezTo>
                  <a:cubicBezTo>
                    <a:pt x="5000" y="1096"/>
                    <a:pt x="7647" y="0"/>
                    <a:pt x="10407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506468" cy="658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0451" y="8220017"/>
            <a:ext cx="16521023" cy="222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 i="1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EVERY RAYLIB RESOURCE CLASS FOLLOWS RAII:</a:t>
            </a:r>
          </a:p>
          <a:p>
            <a:pPr algn="just">
              <a:lnSpc>
                <a:spcPts val="3450"/>
              </a:lnSpc>
            </a:pPr>
            <a:r>
              <a:rPr lang="en-US" sz="2300" i="1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• </a:t>
            </a:r>
            <a:r>
              <a:rPr lang="en-US" sz="2300" i="1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SUBMARINE</a:t>
            </a:r>
            <a:r>
              <a:rPr lang="en-US" sz="2300" i="1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LOADS TEXTURE + SOUND IN CONSTRUCTOR → UNLOADS BOTH IN ~SUBMARINE()</a:t>
            </a:r>
          </a:p>
          <a:p>
            <a:pPr algn="just">
              <a:lnSpc>
                <a:spcPts val="3450"/>
              </a:lnSpc>
            </a:pPr>
            <a:r>
              <a:rPr lang="en-US" sz="2300" i="1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• </a:t>
            </a:r>
            <a:r>
              <a:rPr lang="en-US" sz="2300" i="1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SEACREATURE</a:t>
            </a:r>
            <a:r>
              <a:rPr lang="en-US" sz="2300" i="1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USES STATIC TEXTURE ARRAY — LOADED ONCE PER TYPE, UNLOADED VIA UNLOADIMAGES()</a:t>
            </a:r>
          </a:p>
          <a:p>
            <a:pPr algn="just">
              <a:lnSpc>
                <a:spcPts val="3450"/>
              </a:lnSpc>
            </a:pPr>
            <a:r>
              <a:rPr lang="en-US" sz="2300" i="1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• </a:t>
            </a:r>
            <a:r>
              <a:rPr lang="en-US" sz="2300" i="1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SCOREMANAGER</a:t>
            </a:r>
            <a:r>
              <a:rPr lang="en-US" sz="2300" i="1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OPENS SQLITE IN CONSTRUCTOR → SQLITE3_CLOSE() IN DESTRUCTOR</a:t>
            </a:r>
          </a:p>
          <a:p>
            <a:pPr algn="just">
              <a:lnSpc>
                <a:spcPts val="3450"/>
              </a:lnSpc>
            </a:pPr>
            <a:endParaRPr lang="en-US" sz="2300" i="1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06860" y="3778922"/>
            <a:ext cx="4224470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SEACREATURE::DRAW()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4899" y="4837870"/>
            <a:ext cx="3779705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BLUEWHALE::DRAW()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4899" y="5566545"/>
            <a:ext cx="3335073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POWERUP::DRAW()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4899" y="6615708"/>
            <a:ext cx="3779705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TORPEDO::UPDATE()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6860" y="4167003"/>
            <a:ext cx="8718649" cy="56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FFFFC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SELECTS CORRECT SPRITE BASED ON TYPE (1-4)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4899" y="5913562"/>
            <a:ext cx="8718649" cy="85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FFFFC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RENDERS CORRECT COLORED BOX AND LABEL [2]/[S]/[+]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endParaRPr lang="en-US" sz="1750">
              <a:solidFill>
                <a:srgbClr val="FFFFCA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54899" y="5181429"/>
            <a:ext cx="8718649" cy="28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FFFFC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ONLY RENDERS WHEN ALIVE == TRUE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4899" y="6901450"/>
            <a:ext cx="8718649" cy="113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FFFFC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SPEED &lt; 0 → MOVES UP (PLAYER), SPEED &gt; 0 → MOVES DOWN (ENEMY)</a:t>
            </a:r>
          </a:p>
          <a:p>
            <a:pPr algn="l">
              <a:lnSpc>
                <a:spcPts val="2293"/>
              </a:lnSpc>
              <a:spcBef>
                <a:spcPct val="0"/>
              </a:spcBef>
            </a:pPr>
            <a:endParaRPr lang="en-US" sz="1750">
              <a:solidFill>
                <a:srgbClr val="FFFFCA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algn="l">
              <a:lnSpc>
                <a:spcPts val="2293"/>
              </a:lnSpc>
              <a:spcBef>
                <a:spcPct val="0"/>
              </a:spcBef>
            </a:pPr>
            <a:endParaRPr lang="en-US" sz="1750">
              <a:solidFill>
                <a:srgbClr val="FFFFCA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50451" y="7914169"/>
            <a:ext cx="5780749" cy="56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3"/>
              </a:lnSpc>
              <a:spcBef>
                <a:spcPct val="0"/>
              </a:spcBef>
            </a:pPr>
            <a:r>
              <a:rPr lang="en-US" sz="175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CONSTRUCTORS &amp; DESTRUCTORS</a:t>
            </a:r>
          </a:p>
          <a:p>
            <a:pPr algn="ctr">
              <a:lnSpc>
                <a:spcPts val="2293"/>
              </a:lnSpc>
              <a:spcBef>
                <a:spcPct val="0"/>
              </a:spcBef>
            </a:pPr>
            <a:endParaRPr lang="en-US" sz="175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028700" y="1494502"/>
            <a:ext cx="16230600" cy="8103449"/>
            <a:chOff x="0" y="0"/>
            <a:chExt cx="4274726" cy="21342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34242"/>
            </a:xfrm>
            <a:custGeom>
              <a:avLst/>
              <a:gdLst/>
              <a:ahLst/>
              <a:cxnLst/>
              <a:rect l="l" t="t" r="r" b="b"/>
              <a:pathLst>
                <a:path w="4274726" h="2134242">
                  <a:moveTo>
                    <a:pt x="10971" y="0"/>
                  </a:moveTo>
                  <a:lnTo>
                    <a:pt x="4263755" y="0"/>
                  </a:lnTo>
                  <a:cubicBezTo>
                    <a:pt x="4269814" y="0"/>
                    <a:pt x="4274726" y="4912"/>
                    <a:pt x="4274726" y="10971"/>
                  </a:cubicBezTo>
                  <a:lnTo>
                    <a:pt x="4274726" y="2123271"/>
                  </a:lnTo>
                  <a:cubicBezTo>
                    <a:pt x="4274726" y="2129330"/>
                    <a:pt x="4269814" y="2134242"/>
                    <a:pt x="4263755" y="2134242"/>
                  </a:cubicBezTo>
                  <a:lnTo>
                    <a:pt x="10971" y="2134242"/>
                  </a:lnTo>
                  <a:cubicBezTo>
                    <a:pt x="4912" y="2134242"/>
                    <a:pt x="0" y="2129330"/>
                    <a:pt x="0" y="2123271"/>
                  </a:cubicBezTo>
                  <a:lnTo>
                    <a:pt x="0" y="10971"/>
                  </a:lnTo>
                  <a:cubicBezTo>
                    <a:pt x="0" y="4912"/>
                    <a:pt x="4912" y="0"/>
                    <a:pt x="10971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172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85136" y="1914398"/>
            <a:ext cx="15342004" cy="7282574"/>
            <a:chOff x="0" y="0"/>
            <a:chExt cx="4040692" cy="19180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40692" cy="1918044"/>
            </a:xfrm>
            <a:custGeom>
              <a:avLst/>
              <a:gdLst/>
              <a:ahLst/>
              <a:cxnLst/>
              <a:rect l="l" t="t" r="r" b="b"/>
              <a:pathLst>
                <a:path w="4040692" h="1918044">
                  <a:moveTo>
                    <a:pt x="11606" y="0"/>
                  </a:moveTo>
                  <a:lnTo>
                    <a:pt x="4029086" y="0"/>
                  </a:lnTo>
                  <a:cubicBezTo>
                    <a:pt x="4035496" y="0"/>
                    <a:pt x="4040692" y="5196"/>
                    <a:pt x="4040692" y="11606"/>
                  </a:cubicBezTo>
                  <a:lnTo>
                    <a:pt x="4040692" y="1906438"/>
                  </a:lnTo>
                  <a:cubicBezTo>
                    <a:pt x="4040692" y="1912848"/>
                    <a:pt x="4035496" y="1918044"/>
                    <a:pt x="4029086" y="1918044"/>
                  </a:cubicBezTo>
                  <a:lnTo>
                    <a:pt x="11606" y="1918044"/>
                  </a:lnTo>
                  <a:cubicBezTo>
                    <a:pt x="5196" y="1918044"/>
                    <a:pt x="0" y="1912848"/>
                    <a:pt x="0" y="1906438"/>
                  </a:cubicBezTo>
                  <a:lnTo>
                    <a:pt x="0" y="11606"/>
                  </a:lnTo>
                  <a:cubicBezTo>
                    <a:pt x="0" y="5196"/>
                    <a:pt x="5196" y="0"/>
                    <a:pt x="11606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040692" cy="1956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32903" y="2325149"/>
            <a:ext cx="4398829" cy="2282889"/>
            <a:chOff x="0" y="0"/>
            <a:chExt cx="1047919" cy="5438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7919" cy="543845"/>
            </a:xfrm>
            <a:custGeom>
              <a:avLst/>
              <a:gdLst/>
              <a:ahLst/>
              <a:cxnLst/>
              <a:rect l="l" t="t" r="r" b="b"/>
              <a:pathLst>
                <a:path w="1047919" h="543845">
                  <a:moveTo>
                    <a:pt x="40480" y="0"/>
                  </a:moveTo>
                  <a:lnTo>
                    <a:pt x="1007439" y="0"/>
                  </a:lnTo>
                  <a:cubicBezTo>
                    <a:pt x="1018175" y="0"/>
                    <a:pt x="1028471" y="4265"/>
                    <a:pt x="1036062" y="11856"/>
                  </a:cubicBezTo>
                  <a:cubicBezTo>
                    <a:pt x="1043654" y="19448"/>
                    <a:pt x="1047919" y="29744"/>
                    <a:pt x="1047919" y="40480"/>
                  </a:cubicBezTo>
                  <a:lnTo>
                    <a:pt x="1047919" y="503365"/>
                  </a:lnTo>
                  <a:cubicBezTo>
                    <a:pt x="1047919" y="514101"/>
                    <a:pt x="1043654" y="524397"/>
                    <a:pt x="1036062" y="531989"/>
                  </a:cubicBezTo>
                  <a:cubicBezTo>
                    <a:pt x="1028471" y="539580"/>
                    <a:pt x="1018175" y="543845"/>
                    <a:pt x="1007439" y="543845"/>
                  </a:cubicBezTo>
                  <a:lnTo>
                    <a:pt x="40480" y="543845"/>
                  </a:lnTo>
                  <a:cubicBezTo>
                    <a:pt x="29744" y="543845"/>
                    <a:pt x="19448" y="539580"/>
                    <a:pt x="11856" y="531989"/>
                  </a:cubicBezTo>
                  <a:cubicBezTo>
                    <a:pt x="4265" y="524397"/>
                    <a:pt x="0" y="514101"/>
                    <a:pt x="0" y="503365"/>
                  </a:cubicBezTo>
                  <a:lnTo>
                    <a:pt x="0" y="40480"/>
                  </a:lnTo>
                  <a:cubicBezTo>
                    <a:pt x="0" y="29744"/>
                    <a:pt x="4265" y="19448"/>
                    <a:pt x="11856" y="11856"/>
                  </a:cubicBezTo>
                  <a:cubicBezTo>
                    <a:pt x="19448" y="4265"/>
                    <a:pt x="29744" y="0"/>
                    <a:pt x="40480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47919" cy="581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21177" y="2358017"/>
            <a:ext cx="4770769" cy="2282889"/>
            <a:chOff x="0" y="0"/>
            <a:chExt cx="1256499" cy="60125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6499" cy="601255"/>
            </a:xfrm>
            <a:custGeom>
              <a:avLst/>
              <a:gdLst/>
              <a:ahLst/>
              <a:cxnLst/>
              <a:rect l="l" t="t" r="r" b="b"/>
              <a:pathLst>
                <a:path w="1256499" h="601255">
                  <a:moveTo>
                    <a:pt x="37324" y="0"/>
                  </a:moveTo>
                  <a:lnTo>
                    <a:pt x="1219175" y="0"/>
                  </a:lnTo>
                  <a:cubicBezTo>
                    <a:pt x="1229074" y="0"/>
                    <a:pt x="1238567" y="3932"/>
                    <a:pt x="1245567" y="10932"/>
                  </a:cubicBezTo>
                  <a:cubicBezTo>
                    <a:pt x="1252567" y="17932"/>
                    <a:pt x="1256499" y="27425"/>
                    <a:pt x="1256499" y="37324"/>
                  </a:cubicBezTo>
                  <a:lnTo>
                    <a:pt x="1256499" y="563931"/>
                  </a:lnTo>
                  <a:cubicBezTo>
                    <a:pt x="1256499" y="573830"/>
                    <a:pt x="1252567" y="583323"/>
                    <a:pt x="1245567" y="590323"/>
                  </a:cubicBezTo>
                  <a:cubicBezTo>
                    <a:pt x="1238567" y="597322"/>
                    <a:pt x="1229074" y="601255"/>
                    <a:pt x="1219175" y="601255"/>
                  </a:cubicBezTo>
                  <a:lnTo>
                    <a:pt x="37324" y="601255"/>
                  </a:lnTo>
                  <a:cubicBezTo>
                    <a:pt x="27425" y="601255"/>
                    <a:pt x="17932" y="597322"/>
                    <a:pt x="10932" y="590323"/>
                  </a:cubicBezTo>
                  <a:cubicBezTo>
                    <a:pt x="3932" y="583323"/>
                    <a:pt x="0" y="573830"/>
                    <a:pt x="0" y="563931"/>
                  </a:cubicBezTo>
                  <a:lnTo>
                    <a:pt x="0" y="37324"/>
                  </a:lnTo>
                  <a:cubicBezTo>
                    <a:pt x="0" y="27425"/>
                    <a:pt x="3932" y="17932"/>
                    <a:pt x="10932" y="10932"/>
                  </a:cubicBezTo>
                  <a:cubicBezTo>
                    <a:pt x="17932" y="3932"/>
                    <a:pt x="27425" y="0"/>
                    <a:pt x="37324" y="0"/>
                  </a:cubicBezTo>
                  <a:close/>
                </a:path>
              </a:pathLst>
            </a:custGeom>
            <a:solidFill>
              <a:srgbClr val="FFC5E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256499" cy="639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67884" y="2436155"/>
            <a:ext cx="4128116" cy="926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700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SUBMARINE PLAYER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61072" y="2469023"/>
            <a:ext cx="3088515" cy="13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3699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ENEMY FORMATION</a:t>
            </a:r>
          </a:p>
          <a:p>
            <a:pPr marL="0" lvl="0" indent="0" algn="ctr">
              <a:lnSpc>
                <a:spcPts val="3218"/>
              </a:lnSpc>
            </a:pPr>
            <a:endParaRPr lang="en-US" sz="3699">
              <a:solidFill>
                <a:srgbClr val="FFFFC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1843189" y="2325149"/>
            <a:ext cx="4600791" cy="2282889"/>
            <a:chOff x="0" y="0"/>
            <a:chExt cx="1096031" cy="5438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6031" cy="543845"/>
            </a:xfrm>
            <a:custGeom>
              <a:avLst/>
              <a:gdLst/>
              <a:ahLst/>
              <a:cxnLst/>
              <a:rect l="l" t="t" r="r" b="b"/>
              <a:pathLst>
                <a:path w="1096031" h="543845">
                  <a:moveTo>
                    <a:pt x="38703" y="0"/>
                  </a:moveTo>
                  <a:lnTo>
                    <a:pt x="1057328" y="0"/>
                  </a:lnTo>
                  <a:cubicBezTo>
                    <a:pt x="1078703" y="0"/>
                    <a:pt x="1096031" y="17328"/>
                    <a:pt x="1096031" y="38703"/>
                  </a:cubicBezTo>
                  <a:lnTo>
                    <a:pt x="1096031" y="505142"/>
                  </a:lnTo>
                  <a:cubicBezTo>
                    <a:pt x="1096031" y="526517"/>
                    <a:pt x="1078703" y="543845"/>
                    <a:pt x="1057328" y="543845"/>
                  </a:cubicBezTo>
                  <a:lnTo>
                    <a:pt x="38703" y="543845"/>
                  </a:lnTo>
                  <a:cubicBezTo>
                    <a:pt x="17328" y="543845"/>
                    <a:pt x="0" y="526517"/>
                    <a:pt x="0" y="505142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96031" cy="581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32903" y="4782074"/>
            <a:ext cx="4398829" cy="2159453"/>
            <a:chOff x="0" y="0"/>
            <a:chExt cx="1047919" cy="51443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7919" cy="514439"/>
            </a:xfrm>
            <a:custGeom>
              <a:avLst/>
              <a:gdLst/>
              <a:ahLst/>
              <a:cxnLst/>
              <a:rect l="l" t="t" r="r" b="b"/>
              <a:pathLst>
                <a:path w="1047919" h="514439">
                  <a:moveTo>
                    <a:pt x="40480" y="0"/>
                  </a:moveTo>
                  <a:lnTo>
                    <a:pt x="1007439" y="0"/>
                  </a:lnTo>
                  <a:cubicBezTo>
                    <a:pt x="1018175" y="0"/>
                    <a:pt x="1028471" y="4265"/>
                    <a:pt x="1036062" y="11856"/>
                  </a:cubicBezTo>
                  <a:cubicBezTo>
                    <a:pt x="1043654" y="19448"/>
                    <a:pt x="1047919" y="29744"/>
                    <a:pt x="1047919" y="40480"/>
                  </a:cubicBezTo>
                  <a:lnTo>
                    <a:pt x="1047919" y="473959"/>
                  </a:lnTo>
                  <a:cubicBezTo>
                    <a:pt x="1047919" y="484695"/>
                    <a:pt x="1043654" y="494992"/>
                    <a:pt x="1036062" y="502583"/>
                  </a:cubicBezTo>
                  <a:cubicBezTo>
                    <a:pt x="1028471" y="510174"/>
                    <a:pt x="1018175" y="514439"/>
                    <a:pt x="1007439" y="514439"/>
                  </a:cubicBezTo>
                  <a:lnTo>
                    <a:pt x="40480" y="514439"/>
                  </a:lnTo>
                  <a:cubicBezTo>
                    <a:pt x="29744" y="514439"/>
                    <a:pt x="19448" y="510174"/>
                    <a:pt x="11856" y="502583"/>
                  </a:cubicBezTo>
                  <a:cubicBezTo>
                    <a:pt x="4265" y="494992"/>
                    <a:pt x="0" y="484695"/>
                    <a:pt x="0" y="473959"/>
                  </a:cubicBezTo>
                  <a:lnTo>
                    <a:pt x="0" y="40480"/>
                  </a:lnTo>
                  <a:cubicBezTo>
                    <a:pt x="0" y="29744"/>
                    <a:pt x="4265" y="19448"/>
                    <a:pt x="11856" y="11856"/>
                  </a:cubicBezTo>
                  <a:cubicBezTo>
                    <a:pt x="19448" y="4265"/>
                    <a:pt x="29744" y="0"/>
                    <a:pt x="40480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47919" cy="552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1177" y="4782074"/>
            <a:ext cx="4770769" cy="2159453"/>
            <a:chOff x="0" y="0"/>
            <a:chExt cx="1256499" cy="56874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56499" cy="568745"/>
            </a:xfrm>
            <a:custGeom>
              <a:avLst/>
              <a:gdLst/>
              <a:ahLst/>
              <a:cxnLst/>
              <a:rect l="l" t="t" r="r" b="b"/>
              <a:pathLst>
                <a:path w="1256499" h="568745">
                  <a:moveTo>
                    <a:pt x="37324" y="0"/>
                  </a:moveTo>
                  <a:lnTo>
                    <a:pt x="1219175" y="0"/>
                  </a:lnTo>
                  <a:cubicBezTo>
                    <a:pt x="1229074" y="0"/>
                    <a:pt x="1238567" y="3932"/>
                    <a:pt x="1245567" y="10932"/>
                  </a:cubicBezTo>
                  <a:cubicBezTo>
                    <a:pt x="1252567" y="17932"/>
                    <a:pt x="1256499" y="27425"/>
                    <a:pt x="1256499" y="37324"/>
                  </a:cubicBezTo>
                  <a:lnTo>
                    <a:pt x="1256499" y="531421"/>
                  </a:lnTo>
                  <a:cubicBezTo>
                    <a:pt x="1256499" y="541320"/>
                    <a:pt x="1252567" y="550813"/>
                    <a:pt x="1245567" y="557813"/>
                  </a:cubicBezTo>
                  <a:cubicBezTo>
                    <a:pt x="1238567" y="564812"/>
                    <a:pt x="1229074" y="568745"/>
                    <a:pt x="1219175" y="568745"/>
                  </a:cubicBezTo>
                  <a:lnTo>
                    <a:pt x="37324" y="568745"/>
                  </a:lnTo>
                  <a:cubicBezTo>
                    <a:pt x="27425" y="568745"/>
                    <a:pt x="17932" y="564812"/>
                    <a:pt x="10932" y="557813"/>
                  </a:cubicBezTo>
                  <a:cubicBezTo>
                    <a:pt x="3932" y="550813"/>
                    <a:pt x="0" y="541320"/>
                    <a:pt x="0" y="531421"/>
                  </a:cubicBezTo>
                  <a:lnTo>
                    <a:pt x="0" y="37324"/>
                  </a:lnTo>
                  <a:cubicBezTo>
                    <a:pt x="0" y="27425"/>
                    <a:pt x="3932" y="17932"/>
                    <a:pt x="10932" y="10932"/>
                  </a:cubicBezTo>
                  <a:cubicBezTo>
                    <a:pt x="17932" y="3932"/>
                    <a:pt x="27425" y="0"/>
                    <a:pt x="37324" y="0"/>
                  </a:cubicBezTo>
                  <a:close/>
                </a:path>
              </a:pathLst>
            </a:custGeom>
            <a:solidFill>
              <a:srgbClr val="FFC5E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256499" cy="6068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843189" y="4782074"/>
            <a:ext cx="4611908" cy="2159453"/>
            <a:chOff x="0" y="0"/>
            <a:chExt cx="1098680" cy="51443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98680" cy="514439"/>
            </a:xfrm>
            <a:custGeom>
              <a:avLst/>
              <a:gdLst/>
              <a:ahLst/>
              <a:cxnLst/>
              <a:rect l="l" t="t" r="r" b="b"/>
              <a:pathLst>
                <a:path w="1098680" h="514439">
                  <a:moveTo>
                    <a:pt x="38610" y="0"/>
                  </a:moveTo>
                  <a:lnTo>
                    <a:pt x="1060070" y="0"/>
                  </a:lnTo>
                  <a:cubicBezTo>
                    <a:pt x="1081394" y="0"/>
                    <a:pt x="1098680" y="17286"/>
                    <a:pt x="1098680" y="38610"/>
                  </a:cubicBezTo>
                  <a:lnTo>
                    <a:pt x="1098680" y="475830"/>
                  </a:lnTo>
                  <a:cubicBezTo>
                    <a:pt x="1098680" y="486070"/>
                    <a:pt x="1094612" y="495890"/>
                    <a:pt x="1087371" y="503131"/>
                  </a:cubicBezTo>
                  <a:cubicBezTo>
                    <a:pt x="1080130" y="510372"/>
                    <a:pt x="1070310" y="514439"/>
                    <a:pt x="1060070" y="514439"/>
                  </a:cubicBezTo>
                  <a:lnTo>
                    <a:pt x="38610" y="514439"/>
                  </a:lnTo>
                  <a:cubicBezTo>
                    <a:pt x="17286" y="514439"/>
                    <a:pt x="0" y="497153"/>
                    <a:pt x="0" y="475830"/>
                  </a:cubicBezTo>
                  <a:lnTo>
                    <a:pt x="0" y="38610"/>
                  </a:lnTo>
                  <a:cubicBezTo>
                    <a:pt x="0" y="17286"/>
                    <a:pt x="17286" y="0"/>
                    <a:pt x="38610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98680" cy="552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32012" y="7112977"/>
            <a:ext cx="4968143" cy="1976041"/>
            <a:chOff x="0" y="0"/>
            <a:chExt cx="1183544" cy="47074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83544" cy="470746"/>
            </a:xfrm>
            <a:custGeom>
              <a:avLst/>
              <a:gdLst/>
              <a:ahLst/>
              <a:cxnLst/>
              <a:rect l="l" t="t" r="r" b="b"/>
              <a:pathLst>
                <a:path w="1183544" h="470746">
                  <a:moveTo>
                    <a:pt x="35841" y="0"/>
                  </a:moveTo>
                  <a:lnTo>
                    <a:pt x="1147703" y="0"/>
                  </a:lnTo>
                  <a:cubicBezTo>
                    <a:pt x="1167498" y="0"/>
                    <a:pt x="1183544" y="16047"/>
                    <a:pt x="1183544" y="35841"/>
                  </a:cubicBezTo>
                  <a:lnTo>
                    <a:pt x="1183544" y="434905"/>
                  </a:lnTo>
                  <a:cubicBezTo>
                    <a:pt x="1183544" y="454699"/>
                    <a:pt x="1167498" y="470746"/>
                    <a:pt x="1147703" y="470746"/>
                  </a:cubicBezTo>
                  <a:lnTo>
                    <a:pt x="35841" y="470746"/>
                  </a:lnTo>
                  <a:cubicBezTo>
                    <a:pt x="16047" y="470746"/>
                    <a:pt x="0" y="454699"/>
                    <a:pt x="0" y="434905"/>
                  </a:cubicBezTo>
                  <a:lnTo>
                    <a:pt x="0" y="35841"/>
                  </a:lnTo>
                  <a:cubicBezTo>
                    <a:pt x="0" y="16047"/>
                    <a:pt x="16047" y="0"/>
                    <a:pt x="35841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83544" cy="50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790829" y="7134225"/>
            <a:ext cx="5065687" cy="1976041"/>
            <a:chOff x="0" y="0"/>
            <a:chExt cx="1334173" cy="52043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34173" cy="520439"/>
            </a:xfrm>
            <a:custGeom>
              <a:avLst/>
              <a:gdLst/>
              <a:ahLst/>
              <a:cxnLst/>
              <a:rect l="l" t="t" r="r" b="b"/>
              <a:pathLst>
                <a:path w="1334173" h="520439">
                  <a:moveTo>
                    <a:pt x="35151" y="0"/>
                  </a:moveTo>
                  <a:lnTo>
                    <a:pt x="1299022" y="0"/>
                  </a:lnTo>
                  <a:cubicBezTo>
                    <a:pt x="1308344" y="0"/>
                    <a:pt x="1317285" y="3703"/>
                    <a:pt x="1323877" y="10296"/>
                  </a:cubicBezTo>
                  <a:cubicBezTo>
                    <a:pt x="1330469" y="16888"/>
                    <a:pt x="1334173" y="25828"/>
                    <a:pt x="1334173" y="35151"/>
                  </a:cubicBezTo>
                  <a:lnTo>
                    <a:pt x="1334173" y="485288"/>
                  </a:lnTo>
                  <a:cubicBezTo>
                    <a:pt x="1334173" y="504701"/>
                    <a:pt x="1318435" y="520439"/>
                    <a:pt x="1299022" y="520439"/>
                  </a:cubicBezTo>
                  <a:lnTo>
                    <a:pt x="35151" y="520439"/>
                  </a:lnTo>
                  <a:cubicBezTo>
                    <a:pt x="25828" y="520439"/>
                    <a:pt x="16888" y="516735"/>
                    <a:pt x="10296" y="510143"/>
                  </a:cubicBezTo>
                  <a:cubicBezTo>
                    <a:pt x="3703" y="503551"/>
                    <a:pt x="0" y="494610"/>
                    <a:pt x="0" y="485288"/>
                  </a:cubicBezTo>
                  <a:lnTo>
                    <a:pt x="0" y="35151"/>
                  </a:lnTo>
                  <a:cubicBezTo>
                    <a:pt x="0" y="25828"/>
                    <a:pt x="3703" y="16888"/>
                    <a:pt x="10296" y="10296"/>
                  </a:cubicBezTo>
                  <a:cubicBezTo>
                    <a:pt x="16888" y="3703"/>
                    <a:pt x="25828" y="0"/>
                    <a:pt x="35151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334173" cy="55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85136" y="3381797"/>
            <a:ext cx="5072487" cy="136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ARROW KEY MOVEMENT, SPACEBAR FIRE</a:t>
            </a:r>
          </a:p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0.35S COOLDOWN, SCREEN CLAMPING</a:t>
            </a:r>
          </a:p>
          <a:p>
            <a:pPr marL="0" lvl="0" indent="0" algn="ctr">
              <a:lnSpc>
                <a:spcPts val="2088"/>
              </a:lnSpc>
            </a:pPr>
            <a:endParaRPr lang="en-US" sz="2400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619894" y="3414665"/>
            <a:ext cx="5072487" cy="136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5×11 GRID, SYNCHRONIZED MOVEMENT</a:t>
            </a:r>
          </a:p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DESCEND ON SCREEN EDGE CONTACT</a:t>
            </a:r>
          </a:p>
          <a:p>
            <a:pPr marL="0" lvl="0" indent="0" algn="ctr">
              <a:lnSpc>
                <a:spcPts val="2088"/>
              </a:lnSpc>
            </a:pPr>
            <a:endParaRPr lang="en-US" sz="2400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684367" y="2436155"/>
            <a:ext cx="3088515" cy="13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3699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CORAL BUNKERS</a:t>
            </a:r>
          </a:p>
          <a:p>
            <a:pPr marL="0" lvl="0" indent="0" algn="ctr">
              <a:lnSpc>
                <a:spcPts val="3218"/>
              </a:lnSpc>
            </a:pPr>
            <a:endParaRPr lang="en-US" sz="3699">
              <a:solidFill>
                <a:srgbClr val="FFFFC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692381" y="3381797"/>
            <a:ext cx="5072487" cy="136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4 DESTRUCTIBLE OBSTACLES, 13×23 GRID</a:t>
            </a:r>
          </a:p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BLOCK-LEVEL DAMAGE PER TORPEDO HIT</a:t>
            </a:r>
          </a:p>
          <a:p>
            <a:pPr marL="0" lvl="0" indent="0" algn="ctr">
              <a:lnSpc>
                <a:spcPts val="2088"/>
              </a:lnSpc>
            </a:pPr>
            <a:endParaRPr lang="en-US" sz="2400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030155" y="4893080"/>
            <a:ext cx="4128116" cy="13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3700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BLUE WHALE BONUS</a:t>
            </a:r>
          </a:p>
          <a:p>
            <a:pPr marL="0" lvl="0" indent="0" algn="ctr">
              <a:lnSpc>
                <a:spcPts val="3219"/>
              </a:lnSpc>
            </a:pPr>
            <a:endParaRPr lang="en-US" sz="3700">
              <a:solidFill>
                <a:srgbClr val="FFFFC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7523344" y="4925949"/>
            <a:ext cx="3088515" cy="13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3699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POWER-UP SYSTEM</a:t>
            </a:r>
          </a:p>
          <a:p>
            <a:pPr marL="0" lvl="0" indent="0" algn="ctr">
              <a:lnSpc>
                <a:spcPts val="3218"/>
              </a:lnSpc>
            </a:pPr>
            <a:endParaRPr lang="en-US" sz="3699">
              <a:solidFill>
                <a:srgbClr val="FFFFC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547407" y="5838723"/>
            <a:ext cx="5072487" cy="111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SPAWNS EVERY 10-20 SEC FROM RANDOM SIDE</a:t>
            </a:r>
          </a:p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WORTH 150 POINTS</a:t>
            </a:r>
          </a:p>
          <a:p>
            <a:pPr marL="0" lvl="0" indent="0" algn="ctr">
              <a:lnSpc>
                <a:spcPts val="2088"/>
              </a:lnSpc>
            </a:pPr>
            <a:endParaRPr lang="en-US" sz="2400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682166" y="5871591"/>
            <a:ext cx="5072487" cy="111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[2] DOUBLE TORPEDO (8 SEC)</a:t>
            </a:r>
          </a:p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[S] SHIELD | [+] EXTRA LIFE — 25% DROP</a:t>
            </a:r>
          </a:p>
          <a:p>
            <a:pPr marL="0" lvl="0" indent="0" algn="ctr">
              <a:lnSpc>
                <a:spcPts val="2088"/>
              </a:lnSpc>
            </a:pPr>
            <a:endParaRPr lang="en-US" sz="2400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2192000" y="4893080"/>
            <a:ext cx="3643154" cy="13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3699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PROGRESSIVE DIFFICULTY</a:t>
            </a:r>
          </a:p>
          <a:p>
            <a:pPr marL="0" lvl="0" indent="0" algn="ctr">
              <a:lnSpc>
                <a:spcPts val="3218"/>
              </a:lnSpc>
            </a:pPr>
            <a:endParaRPr lang="en-US" sz="3699">
              <a:solidFill>
                <a:srgbClr val="FFFFC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754653" y="5838723"/>
            <a:ext cx="5072487" cy="111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SPEED +15%/WAVE (CAP 2.5×)</a:t>
            </a:r>
          </a:p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FIRE RATE −0.03S/WAVE (MIN 0.12S)</a:t>
            </a:r>
          </a:p>
          <a:p>
            <a:pPr marL="0" lvl="0" indent="0" algn="ctr">
              <a:lnSpc>
                <a:spcPts val="2088"/>
              </a:lnSpc>
            </a:pPr>
            <a:endParaRPr lang="en-US" sz="2400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788132" y="7141552"/>
            <a:ext cx="4386895" cy="132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3700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SQLITE LEADERBOARD</a:t>
            </a:r>
          </a:p>
          <a:p>
            <a:pPr marL="0" lvl="0" indent="0" algn="ctr">
              <a:lnSpc>
                <a:spcPts val="3219"/>
              </a:lnSpc>
            </a:pPr>
            <a:endParaRPr lang="en-US" sz="3700">
              <a:solidFill>
                <a:srgbClr val="FFFFC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957706" y="7267575"/>
            <a:ext cx="4680178" cy="926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3700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FULL GUI &amp; SOUND</a:t>
            </a:r>
          </a:p>
          <a:p>
            <a:pPr marL="0" lvl="0" indent="0" algn="ctr">
              <a:lnSpc>
                <a:spcPts val="3219"/>
              </a:lnSpc>
            </a:pPr>
            <a:endParaRPr lang="en-US" sz="3700">
              <a:solidFill>
                <a:srgbClr val="FFFFC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3532012" y="7991475"/>
            <a:ext cx="4968143" cy="136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TOP 10 PERSISTED IN SEAOFCHAOS.DB</a:t>
            </a:r>
          </a:p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PLAYER NAME, SCORE, WAVE, TIMESTAMP</a:t>
            </a:r>
          </a:p>
          <a:p>
            <a:pPr marL="0" lvl="0" indent="0" algn="ctr">
              <a:lnSpc>
                <a:spcPts val="2088"/>
              </a:lnSpc>
            </a:pPr>
            <a:endParaRPr lang="en-US" sz="2400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790829" y="7793144"/>
            <a:ext cx="5072487" cy="136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HUD, MENUS, WAVE-CLEAR, GAME-OVER</a:t>
            </a:r>
          </a:p>
          <a:p>
            <a:pPr algn="ctr">
              <a:lnSpc>
                <a:spcPts val="2088"/>
              </a:lnSpc>
            </a:pPr>
            <a:r>
              <a:rPr lang="en-US" sz="2400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TORPEDO/EXPLOSION SFX, AMBIENT MUSIC</a:t>
            </a:r>
          </a:p>
          <a:p>
            <a:pPr marL="0" lvl="0" indent="0" algn="ctr">
              <a:lnSpc>
                <a:spcPts val="2088"/>
              </a:lnSpc>
            </a:pPr>
            <a:endParaRPr lang="en-US" sz="2400">
              <a:solidFill>
                <a:srgbClr val="FFFFF3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455181" y="620472"/>
            <a:ext cx="8809540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CORE FEATURES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98772" y="526338"/>
            <a:ext cx="8861698" cy="136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sz="12000">
                <a:solidFill>
                  <a:srgbClr val="FFFFCA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CORE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240771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479771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3434747" y="1273217"/>
            <a:ext cx="6579147" cy="9254555"/>
          </a:xfrm>
          <a:custGeom>
            <a:avLst/>
            <a:gdLst/>
            <a:ahLst/>
            <a:cxnLst/>
            <a:rect l="l" t="t" r="r" b="b"/>
            <a:pathLst>
              <a:path w="6579147" h="9254555">
                <a:moveTo>
                  <a:pt x="0" y="0"/>
                </a:moveTo>
                <a:lnTo>
                  <a:pt x="6579147" y="0"/>
                </a:lnTo>
                <a:lnTo>
                  <a:pt x="6579147" y="9254554"/>
                </a:lnTo>
                <a:lnTo>
                  <a:pt x="0" y="9254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" name="Group 8"/>
          <p:cNvGrpSpPr/>
          <p:nvPr/>
        </p:nvGrpSpPr>
        <p:grpSpPr>
          <a:xfrm>
            <a:off x="891625" y="2688659"/>
            <a:ext cx="8836026" cy="6869230"/>
            <a:chOff x="0" y="0"/>
            <a:chExt cx="2327184" cy="18091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27184" cy="1809180"/>
            </a:xfrm>
            <a:custGeom>
              <a:avLst/>
              <a:gdLst/>
              <a:ahLst/>
              <a:cxnLst/>
              <a:rect l="l" t="t" r="r" b="b"/>
              <a:pathLst>
                <a:path w="2327184" h="1809180">
                  <a:moveTo>
                    <a:pt x="20152" y="0"/>
                  </a:moveTo>
                  <a:lnTo>
                    <a:pt x="2307032" y="0"/>
                  </a:lnTo>
                  <a:cubicBezTo>
                    <a:pt x="2318162" y="0"/>
                    <a:pt x="2327184" y="9022"/>
                    <a:pt x="2327184" y="20152"/>
                  </a:cubicBezTo>
                  <a:lnTo>
                    <a:pt x="2327184" y="1789028"/>
                  </a:lnTo>
                  <a:cubicBezTo>
                    <a:pt x="2327184" y="1800158"/>
                    <a:pt x="2318162" y="1809180"/>
                    <a:pt x="2307032" y="1809180"/>
                  </a:cubicBezTo>
                  <a:lnTo>
                    <a:pt x="20152" y="1809180"/>
                  </a:lnTo>
                  <a:cubicBezTo>
                    <a:pt x="9022" y="1809180"/>
                    <a:pt x="0" y="1800158"/>
                    <a:pt x="0" y="1789028"/>
                  </a:cubicBezTo>
                  <a:lnTo>
                    <a:pt x="0" y="20152"/>
                  </a:lnTo>
                  <a:cubicBezTo>
                    <a:pt x="0" y="9022"/>
                    <a:pt x="9022" y="0"/>
                    <a:pt x="20152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27184" cy="1847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85109" y="962543"/>
            <a:ext cx="15952440" cy="228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3"/>
              </a:lnSpc>
            </a:pPr>
            <a:r>
              <a:rPr lang="en-US" sz="10700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DATA STORAGE &amp; TESTING</a:t>
            </a:r>
          </a:p>
          <a:p>
            <a:pPr algn="l">
              <a:lnSpc>
                <a:spcPts val="8453"/>
              </a:lnSpc>
            </a:pPr>
            <a:endParaRPr lang="en-US" sz="10700">
              <a:solidFill>
                <a:srgbClr val="FF5DA6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868409"/>
            <a:ext cx="15331171" cy="228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3"/>
              </a:lnSpc>
            </a:pPr>
            <a:r>
              <a:rPr lang="en-US" sz="10700">
                <a:solidFill>
                  <a:srgbClr val="FFFFCA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DATA STORAGE &amp; TESTING</a:t>
            </a:r>
          </a:p>
          <a:p>
            <a:pPr algn="l">
              <a:lnSpc>
                <a:spcPts val="8453"/>
              </a:lnSpc>
            </a:pPr>
            <a:endParaRPr lang="en-US" sz="10700">
              <a:solidFill>
                <a:srgbClr val="FFFFCA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9907457" y="2688659"/>
            <a:ext cx="7938926" cy="6869230"/>
            <a:chOff x="0" y="0"/>
            <a:chExt cx="2090911" cy="18091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90911" cy="1809180"/>
            </a:xfrm>
            <a:custGeom>
              <a:avLst/>
              <a:gdLst/>
              <a:ahLst/>
              <a:cxnLst/>
              <a:rect l="l" t="t" r="r" b="b"/>
              <a:pathLst>
                <a:path w="2090911" h="1809180">
                  <a:moveTo>
                    <a:pt x="22429" y="0"/>
                  </a:moveTo>
                  <a:lnTo>
                    <a:pt x="2068481" y="0"/>
                  </a:lnTo>
                  <a:cubicBezTo>
                    <a:pt x="2074430" y="0"/>
                    <a:pt x="2080135" y="2363"/>
                    <a:pt x="2084341" y="6569"/>
                  </a:cubicBezTo>
                  <a:cubicBezTo>
                    <a:pt x="2088548" y="10776"/>
                    <a:pt x="2090911" y="16481"/>
                    <a:pt x="2090911" y="22429"/>
                  </a:cubicBezTo>
                  <a:lnTo>
                    <a:pt x="2090911" y="1786751"/>
                  </a:lnTo>
                  <a:cubicBezTo>
                    <a:pt x="2090911" y="1792699"/>
                    <a:pt x="2088548" y="1798404"/>
                    <a:pt x="2084341" y="1802611"/>
                  </a:cubicBezTo>
                  <a:cubicBezTo>
                    <a:pt x="2080135" y="1806817"/>
                    <a:pt x="2074430" y="1809180"/>
                    <a:pt x="2068481" y="1809180"/>
                  </a:cubicBezTo>
                  <a:lnTo>
                    <a:pt x="22429" y="1809180"/>
                  </a:lnTo>
                  <a:cubicBezTo>
                    <a:pt x="16481" y="1809180"/>
                    <a:pt x="10776" y="1806817"/>
                    <a:pt x="6569" y="1802611"/>
                  </a:cubicBezTo>
                  <a:cubicBezTo>
                    <a:pt x="2363" y="1798404"/>
                    <a:pt x="0" y="1792699"/>
                    <a:pt x="0" y="1786751"/>
                  </a:cubicBezTo>
                  <a:lnTo>
                    <a:pt x="0" y="22429"/>
                  </a:lnTo>
                  <a:cubicBezTo>
                    <a:pt x="0" y="16481"/>
                    <a:pt x="2363" y="10776"/>
                    <a:pt x="6569" y="6569"/>
                  </a:cubicBezTo>
                  <a:cubicBezTo>
                    <a:pt x="10776" y="2363"/>
                    <a:pt x="16481" y="0"/>
                    <a:pt x="22429" y="0"/>
                  </a:cubicBezTo>
                  <a:close/>
                </a:path>
              </a:pathLst>
            </a:custGeom>
            <a:solidFill>
              <a:srgbClr val="FFFFF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90911" cy="1847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081729" y="3951113"/>
            <a:ext cx="7590382" cy="517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990" lvl="1" indent="-188995" algn="l">
              <a:lnSpc>
                <a:spcPts val="2293"/>
              </a:lnSpc>
              <a:buFont typeface="Arial"/>
              <a:buChar char="•"/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SUBMARINE BOUNDARY — LEFT AND RIGHT EDGE CLAMP</a:t>
            </a:r>
          </a:p>
          <a:p>
            <a:pPr marL="377990" lvl="1" indent="-188995" algn="l">
              <a:lnSpc>
                <a:spcPts val="2293"/>
              </a:lnSpc>
              <a:buFont typeface="Arial"/>
              <a:buChar char="•"/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TORPEDO FIRE COOLDOWN — 0.35S ENFORCED</a:t>
            </a:r>
          </a:p>
          <a:p>
            <a:pPr marL="377990" lvl="1" indent="-188995" algn="l">
              <a:lnSpc>
                <a:spcPts val="2293"/>
              </a:lnSpc>
              <a:buFont typeface="Arial"/>
              <a:buChar char="•"/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DOUBLE TORPEDO POWER-UP — FIRES 2 FOR 8 SEC</a:t>
            </a:r>
          </a:p>
          <a:p>
            <a:pPr marL="377990" lvl="1" indent="-188995" algn="l">
              <a:lnSpc>
                <a:spcPts val="2451"/>
              </a:lnSpc>
              <a:buFont typeface="Arial"/>
              <a:buChar char="•"/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SHIELD — ABSORBS ONE HIT WITHOUT LIFE LOSS</a:t>
            </a:r>
          </a:p>
          <a:p>
            <a:pPr marL="377990" lvl="1" indent="-188995" algn="l">
              <a:lnSpc>
                <a:spcPts val="2293"/>
              </a:lnSpc>
              <a:buFont typeface="Arial"/>
              <a:buChar char="•"/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EXTRA LIFE — LIVES COUNTER INCREMENTS</a:t>
            </a:r>
          </a:p>
          <a:p>
            <a:pPr marL="377990" lvl="1" indent="-188995" algn="l">
              <a:lnSpc>
                <a:spcPts val="2293"/>
              </a:lnSpc>
              <a:buFont typeface="Arial"/>
              <a:buChar char="•"/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ENEMY TORPEDO — LIVES-- AND GAMEOVER IF 0</a:t>
            </a:r>
          </a:p>
          <a:p>
            <a:pPr marL="377990" lvl="1" indent="-188995" algn="l">
              <a:lnSpc>
                <a:spcPts val="2293"/>
              </a:lnSpc>
              <a:buFont typeface="Arial"/>
              <a:buChar char="•"/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CREATURE REACHES FLOOR — GAMEOVER TRIGGERED</a:t>
            </a:r>
          </a:p>
          <a:p>
            <a:pPr marL="377990" lvl="1" indent="-188995" algn="l">
              <a:lnSpc>
                <a:spcPts val="2293"/>
              </a:lnSpc>
              <a:buFont typeface="Arial"/>
              <a:buChar char="•"/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BUNKER BLOCK-LEVEL DAMAGE ON TORPEDO HIT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186938" y="3130550"/>
            <a:ext cx="7659445" cy="56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MANUAL TEST RESULTS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73372" y="2759301"/>
            <a:ext cx="8672531" cy="61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sz="3008">
                <a:solidFill>
                  <a:srgbClr val="FFFFC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DATA STORAGE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3502081"/>
            <a:ext cx="7117999" cy="313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09">
                <a:solidFill>
                  <a:srgbClr val="FFFFC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HIGHSCORE.TXT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120" y="3939742"/>
            <a:ext cx="8620530" cy="124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09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SINGLE HIGHEST SCORE PERSISTED BETWEEN SESSIONS USING STD::OFSTREAM / IFSTREAM</a:t>
            </a:r>
          </a:p>
          <a:p>
            <a:pPr algn="l">
              <a:lnSpc>
                <a:spcPts val="2501"/>
              </a:lnSpc>
            </a:pPr>
            <a:endParaRPr lang="en-US" sz="1909">
              <a:solidFill>
                <a:srgbClr val="FFFFF3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354449" y="8965729"/>
            <a:ext cx="7659445" cy="56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750">
                <a:solidFill>
                  <a:srgbClr val="FF5D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ALL 8 TEST CASES: PASS</a:t>
            </a:r>
          </a:p>
          <a:p>
            <a:pPr algn="l">
              <a:lnSpc>
                <a:spcPts val="2293"/>
              </a:lnSpc>
            </a:pPr>
            <a:endParaRPr lang="en-US" sz="1750">
              <a:solidFill>
                <a:srgbClr val="FF5D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00982" y="5057380"/>
            <a:ext cx="7117999" cy="6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09">
                <a:solidFill>
                  <a:srgbClr val="FFFFC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SEAOFCHAOS.DB (SQLITE3)</a:t>
            </a:r>
          </a:p>
          <a:p>
            <a:pPr algn="l">
              <a:lnSpc>
                <a:spcPts val="2501"/>
              </a:lnSpc>
            </a:pPr>
            <a:endParaRPr lang="en-US" sz="1909">
              <a:solidFill>
                <a:srgbClr val="FFFFCA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7120" y="5397810"/>
            <a:ext cx="8620530" cy="124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09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FULL LEADERBOARD — AUTO-CREATED ON FIRST RUN WITH CREATE TABLE IF NOT EXISTS</a:t>
            </a:r>
          </a:p>
          <a:p>
            <a:pPr algn="l">
              <a:lnSpc>
                <a:spcPts val="2501"/>
              </a:lnSpc>
            </a:pPr>
            <a:endParaRPr lang="en-US" sz="1909">
              <a:solidFill>
                <a:srgbClr val="FFFFF3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3372" y="6617752"/>
            <a:ext cx="7117999" cy="6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09">
                <a:solidFill>
                  <a:srgbClr val="FFFFC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PARAMETERISED QUERIES</a:t>
            </a:r>
          </a:p>
          <a:p>
            <a:pPr algn="l">
              <a:lnSpc>
                <a:spcPts val="2501"/>
              </a:lnSpc>
            </a:pPr>
            <a:endParaRPr lang="en-US" sz="1909">
              <a:solidFill>
                <a:srgbClr val="FFFFCA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6977396"/>
            <a:ext cx="8620530" cy="124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09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SQLITE3_PREPARE_V2() + SQLITE3_BIND_*() PREVENTS SQL INJECTION</a:t>
            </a:r>
          </a:p>
          <a:p>
            <a:pPr algn="l">
              <a:lnSpc>
                <a:spcPts val="2501"/>
              </a:lnSpc>
            </a:pPr>
            <a:endParaRPr lang="en-US" sz="1909">
              <a:solidFill>
                <a:srgbClr val="FFFFF3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00982" y="8197338"/>
            <a:ext cx="7117999" cy="6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09">
                <a:solidFill>
                  <a:srgbClr val="FFFFC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GETTOPSCORES(10)</a:t>
            </a:r>
          </a:p>
          <a:p>
            <a:pPr algn="l">
              <a:lnSpc>
                <a:spcPts val="2501"/>
              </a:lnSpc>
            </a:pPr>
            <a:endParaRPr lang="en-US" sz="1909">
              <a:solidFill>
                <a:srgbClr val="FFFFCA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28700" y="8657997"/>
            <a:ext cx="8620530" cy="936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09">
                <a:solidFill>
                  <a:srgbClr val="FFFFF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SELECT ... ORDER BY SCORE DESC LIMIT 10 → VECTOR&lt;LEADERBOARDENTRY&gt;</a:t>
            </a:r>
          </a:p>
          <a:p>
            <a:pPr algn="l">
              <a:lnSpc>
                <a:spcPts val="2501"/>
              </a:lnSpc>
            </a:pPr>
            <a:endParaRPr lang="en-US" sz="1909">
              <a:solidFill>
                <a:srgbClr val="FFFFF3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2390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1386519" y="1473043"/>
            <a:ext cx="15514962" cy="7785257"/>
            <a:chOff x="0" y="0"/>
            <a:chExt cx="4086245" cy="2050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86245" cy="2050438"/>
            </a:xfrm>
            <a:custGeom>
              <a:avLst/>
              <a:gdLst/>
              <a:ahLst/>
              <a:cxnLst/>
              <a:rect l="l" t="t" r="r" b="b"/>
              <a:pathLst>
                <a:path w="4086245" h="2050438">
                  <a:moveTo>
                    <a:pt x="11477" y="0"/>
                  </a:moveTo>
                  <a:lnTo>
                    <a:pt x="4074768" y="0"/>
                  </a:lnTo>
                  <a:cubicBezTo>
                    <a:pt x="4081107" y="0"/>
                    <a:pt x="4086245" y="5138"/>
                    <a:pt x="4086245" y="11477"/>
                  </a:cubicBezTo>
                  <a:lnTo>
                    <a:pt x="4086245" y="2038961"/>
                  </a:lnTo>
                  <a:cubicBezTo>
                    <a:pt x="4086245" y="2045300"/>
                    <a:pt x="4081107" y="2050438"/>
                    <a:pt x="4074768" y="2050438"/>
                  </a:cubicBezTo>
                  <a:lnTo>
                    <a:pt x="11477" y="2050438"/>
                  </a:lnTo>
                  <a:cubicBezTo>
                    <a:pt x="5138" y="2050438"/>
                    <a:pt x="0" y="2045300"/>
                    <a:pt x="0" y="2038961"/>
                  </a:cubicBezTo>
                  <a:lnTo>
                    <a:pt x="0" y="11477"/>
                  </a:lnTo>
                  <a:cubicBezTo>
                    <a:pt x="0" y="5138"/>
                    <a:pt x="5138" y="0"/>
                    <a:pt x="11477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86245" cy="2088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73845" y="3763161"/>
            <a:ext cx="4735923" cy="985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4220" lvl="1" indent="-502110" algn="l">
              <a:lnSpc>
                <a:spcPts val="3674"/>
              </a:lnSpc>
              <a:buFont typeface="Arial"/>
              <a:buChar char="•"/>
            </a:pPr>
            <a:r>
              <a:rPr lang="en-US" sz="4651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MULTIPLAYER / NETWORK PLAY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557" y="472282"/>
            <a:ext cx="3128411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SEA OF CHAOS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29921" y="472282"/>
            <a:ext cx="1666427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GAME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14177" y="472282"/>
            <a:ext cx="2493267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OOP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24887" y="3763161"/>
            <a:ext cx="4735923" cy="144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4220" lvl="1" indent="-502110" algn="l">
              <a:lnSpc>
                <a:spcPts val="3674"/>
              </a:lnSpc>
              <a:buFont typeface="Arial"/>
              <a:buChar char="•"/>
            </a:pPr>
            <a:r>
              <a:rPr lang="en-US" sz="4651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PROCEDURAL LEVEL LAYOUTS</a:t>
            </a:r>
          </a:p>
          <a:p>
            <a:pPr algn="l">
              <a:lnSpc>
                <a:spcPts val="3674"/>
              </a:lnSpc>
            </a:pPr>
            <a:endParaRPr lang="en-US" sz="4651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73845" y="5341583"/>
            <a:ext cx="4735923" cy="144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4220" lvl="1" indent="-502110" algn="l">
              <a:lnSpc>
                <a:spcPts val="3674"/>
              </a:lnSpc>
              <a:buFont typeface="Arial"/>
              <a:buChar char="•"/>
            </a:pPr>
            <a:r>
              <a:rPr lang="en-US" sz="4651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INTELLIGENT ENEMY AI</a:t>
            </a:r>
          </a:p>
          <a:p>
            <a:pPr algn="l">
              <a:lnSpc>
                <a:spcPts val="3674"/>
              </a:lnSpc>
            </a:pPr>
            <a:endParaRPr lang="en-US" sz="4651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73845" y="6917277"/>
            <a:ext cx="4735923" cy="144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4220" lvl="1" indent="-502110" algn="l">
              <a:lnSpc>
                <a:spcPts val="3674"/>
              </a:lnSpc>
              <a:buFont typeface="Arial"/>
              <a:buChar char="•"/>
            </a:pPr>
            <a:r>
              <a:rPr lang="en-US" sz="4651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MOBILE / WEB PLATFORM</a:t>
            </a:r>
          </a:p>
          <a:p>
            <a:pPr algn="l">
              <a:lnSpc>
                <a:spcPts val="3674"/>
              </a:lnSpc>
            </a:pPr>
            <a:endParaRPr lang="en-US" sz="4651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624887" y="5351108"/>
            <a:ext cx="4735923" cy="144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4220" lvl="1" indent="-502110" algn="l">
              <a:lnSpc>
                <a:spcPts val="3674"/>
              </a:lnSpc>
              <a:buFont typeface="Arial"/>
              <a:buChar char="•"/>
            </a:pPr>
            <a:r>
              <a:rPr lang="en-US" sz="4651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PLAYER NAME EDITING</a:t>
            </a:r>
          </a:p>
          <a:p>
            <a:pPr algn="l">
              <a:lnSpc>
                <a:spcPts val="3674"/>
              </a:lnSpc>
            </a:pPr>
            <a:endParaRPr lang="en-US" sz="4651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624887" y="6917277"/>
            <a:ext cx="4735923" cy="144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4220" lvl="1" indent="-502110" algn="l">
              <a:lnSpc>
                <a:spcPts val="3674"/>
              </a:lnSpc>
              <a:buFont typeface="Arial"/>
              <a:buChar char="•"/>
            </a:pPr>
            <a:r>
              <a:rPr lang="en-US" sz="4651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FULL SESSION SCORE HISTORY</a:t>
            </a:r>
          </a:p>
          <a:p>
            <a:pPr algn="l">
              <a:lnSpc>
                <a:spcPts val="3674"/>
              </a:lnSpc>
            </a:pPr>
            <a:endParaRPr lang="en-US" sz="4651">
              <a:solidFill>
                <a:srgbClr val="FFFFF3"/>
              </a:solidFill>
              <a:latin typeface="Futura Display"/>
              <a:ea typeface="Futura Display"/>
              <a:cs typeface="Futura Display"/>
              <a:sym typeface="Futura Display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75884" y="1958220"/>
            <a:ext cx="15952440" cy="121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3"/>
              </a:lnSpc>
            </a:pPr>
            <a:r>
              <a:rPr lang="en-US" sz="10700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FURURE SCOPE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6519" y="1846177"/>
            <a:ext cx="15331171" cy="121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3"/>
              </a:lnSpc>
            </a:pPr>
            <a:r>
              <a:rPr lang="en-US" sz="10700">
                <a:solidFill>
                  <a:srgbClr val="FFFFCA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FUTURE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9365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23365" cy="10287000"/>
          </a:xfrm>
          <a:custGeom>
            <a:avLst/>
            <a:gdLst/>
            <a:ahLst/>
            <a:cxnLst/>
            <a:rect l="l" t="t" r="r" b="b"/>
            <a:pathLst>
              <a:path w="10223365" h="10287000">
                <a:moveTo>
                  <a:pt x="0" y="0"/>
                </a:moveTo>
                <a:lnTo>
                  <a:pt x="10223365" y="0"/>
                </a:lnTo>
                <a:lnTo>
                  <a:pt x="102233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73914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96000" y="73914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192000" y="7391400"/>
            <a:ext cx="6096000" cy="6096000"/>
          </a:xfrm>
          <a:custGeom>
            <a:avLst/>
            <a:gdLst/>
            <a:ahLst/>
            <a:cxnLst/>
            <a:rect l="l" t="t" r="r" b="b"/>
            <a:pathLst>
              <a:path w="6096000" h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370554" y="504432"/>
            <a:ext cx="17519063" cy="771918"/>
            <a:chOff x="0" y="0"/>
            <a:chExt cx="4614074" cy="2033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4074" cy="203303"/>
            </a:xfrm>
            <a:custGeom>
              <a:avLst/>
              <a:gdLst/>
              <a:ahLst/>
              <a:cxnLst/>
              <a:rect l="l" t="t" r="r" b="b"/>
              <a:pathLst>
                <a:path w="4614074" h="203303">
                  <a:moveTo>
                    <a:pt x="10164" y="0"/>
                  </a:moveTo>
                  <a:lnTo>
                    <a:pt x="4603910" y="0"/>
                  </a:lnTo>
                  <a:cubicBezTo>
                    <a:pt x="4606606" y="0"/>
                    <a:pt x="4609191" y="1071"/>
                    <a:pt x="4611097" y="2977"/>
                  </a:cubicBezTo>
                  <a:cubicBezTo>
                    <a:pt x="4613003" y="4883"/>
                    <a:pt x="4614074" y="7468"/>
                    <a:pt x="4614074" y="10164"/>
                  </a:cubicBezTo>
                  <a:lnTo>
                    <a:pt x="4614074" y="193139"/>
                  </a:lnTo>
                  <a:cubicBezTo>
                    <a:pt x="4614074" y="195835"/>
                    <a:pt x="4613003" y="198420"/>
                    <a:pt x="4611097" y="200326"/>
                  </a:cubicBezTo>
                  <a:cubicBezTo>
                    <a:pt x="4609191" y="202233"/>
                    <a:pt x="4606606" y="203303"/>
                    <a:pt x="4603910" y="203303"/>
                  </a:cubicBezTo>
                  <a:lnTo>
                    <a:pt x="10164" y="203303"/>
                  </a:lnTo>
                  <a:cubicBezTo>
                    <a:pt x="7468" y="203303"/>
                    <a:pt x="4883" y="202233"/>
                    <a:pt x="2977" y="200326"/>
                  </a:cubicBezTo>
                  <a:cubicBezTo>
                    <a:pt x="1071" y="198420"/>
                    <a:pt x="0" y="195835"/>
                    <a:pt x="0" y="193139"/>
                  </a:cubicBezTo>
                  <a:lnTo>
                    <a:pt x="0" y="10164"/>
                  </a:lnTo>
                  <a:cubicBezTo>
                    <a:pt x="0" y="7468"/>
                    <a:pt x="1071" y="4883"/>
                    <a:pt x="2977" y="2977"/>
                  </a:cubicBezTo>
                  <a:cubicBezTo>
                    <a:pt x="4883" y="1071"/>
                    <a:pt x="7468" y="0"/>
                    <a:pt x="10164" y="0"/>
                  </a:cubicBezTo>
                  <a:close/>
                </a:path>
              </a:pathLst>
            </a:custGeom>
            <a:solidFill>
              <a:srgbClr val="FF83B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14074" cy="241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506392" y="2526190"/>
            <a:ext cx="7783183" cy="2622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04"/>
              </a:lnSpc>
            </a:pPr>
            <a:r>
              <a:rPr lang="en-US" sz="23169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THANK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92818" y="4768864"/>
            <a:ext cx="7783183" cy="2622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04"/>
              </a:lnSpc>
            </a:pPr>
            <a:r>
              <a:rPr lang="en-US" sz="23169">
                <a:solidFill>
                  <a:srgbClr val="FF5DA6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53992" y="2373790"/>
            <a:ext cx="7783183" cy="2622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04"/>
              </a:lnSpc>
            </a:pPr>
            <a:r>
              <a:rPr lang="en-US" sz="23169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THANK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40418" y="4616464"/>
            <a:ext cx="7783183" cy="2622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04"/>
              </a:lnSpc>
            </a:pPr>
            <a:r>
              <a:rPr lang="en-US" sz="23169">
                <a:solidFill>
                  <a:srgbClr val="FFFFF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YOU</a:t>
            </a:r>
          </a:p>
        </p:txBody>
      </p:sp>
      <p:sp>
        <p:nvSpPr>
          <p:cNvPr id="14" name="Freeform 14"/>
          <p:cNvSpPr/>
          <p:nvPr/>
        </p:nvSpPr>
        <p:spPr>
          <a:xfrm>
            <a:off x="-352616" y="2042615"/>
            <a:ext cx="5370182" cy="8923263"/>
          </a:xfrm>
          <a:custGeom>
            <a:avLst/>
            <a:gdLst/>
            <a:ahLst/>
            <a:cxnLst/>
            <a:rect l="l" t="t" r="r" b="b"/>
            <a:pathLst>
              <a:path w="5370182" h="8923263">
                <a:moveTo>
                  <a:pt x="0" y="0"/>
                </a:moveTo>
                <a:lnTo>
                  <a:pt x="5370182" y="0"/>
                </a:lnTo>
                <a:lnTo>
                  <a:pt x="5370182" y="8923264"/>
                </a:lnTo>
                <a:lnTo>
                  <a:pt x="0" y="8923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661422" y="578130"/>
            <a:ext cx="2386578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SEE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10787" y="578130"/>
            <a:ext cx="1666427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YOU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95042" y="578130"/>
            <a:ext cx="2493267" cy="50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FFFFF3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NEXT!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13276001" y="2042615"/>
            <a:ext cx="5370182" cy="8923263"/>
          </a:xfrm>
          <a:custGeom>
            <a:avLst/>
            <a:gdLst/>
            <a:ahLst/>
            <a:cxnLst/>
            <a:rect l="l" t="t" r="r" b="b"/>
            <a:pathLst>
              <a:path w="5370182" h="8923263">
                <a:moveTo>
                  <a:pt x="5370183" y="0"/>
                </a:moveTo>
                <a:lnTo>
                  <a:pt x="0" y="0"/>
                </a:lnTo>
                <a:lnTo>
                  <a:pt x="0" y="8923264"/>
                </a:lnTo>
                <a:lnTo>
                  <a:pt x="5370183" y="8923264"/>
                </a:lnTo>
                <a:lnTo>
                  <a:pt x="53701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1139</Words>
  <Application>Microsoft Office PowerPoint</Application>
  <PresentationFormat>Custom</PresentationFormat>
  <Paragraphs>230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Black Han Sans</vt:lpstr>
      <vt:lpstr>Arial</vt:lpstr>
      <vt:lpstr>Futura Display</vt:lpstr>
      <vt:lpstr>Calibri</vt:lpstr>
      <vt:lpstr>Press Start 2P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 Of Chaos</dc:title>
  <cp:lastModifiedBy>ANIS AHMAD</cp:lastModifiedBy>
  <cp:revision>2</cp:revision>
  <dcterms:created xsi:type="dcterms:W3CDTF">2006-08-16T00:00:00Z</dcterms:created>
  <dcterms:modified xsi:type="dcterms:W3CDTF">2026-05-19T11:24:02Z</dcterms:modified>
  <dc:identifier>DAHKFozdgY4</dc:identifier>
</cp:coreProperties>
</file>